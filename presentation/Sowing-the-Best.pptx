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b120bb-0d07-13c5-ec91-aace210e6716}">
          <p14:sldIdLst>
            <p14:sldId id="256"/>
            <p14:sldId id="257"/>
            <p14:sldId id="258"/>
            <p14:sldId id="259"/>
            <p14:sldId id="260"/>
          </p14:sldIdLst>
        </p14:section>
        <p14:section name="1. Sow Positive Attitudes" id="{80613c63-36fc-b62d-45e5-0649713405ee}">
          <p14:sldIdLst>
            <p14:sldId id="261"/>
            <p14:sldId id="262"/>
            <p14:sldId id="263"/>
            <p14:sldId id="264"/>
          </p14:sldIdLst>
        </p14:section>
        <p14:section name="2. Sow Integrity" id="{417fbb6c-8ae0-3fdb-ffcc-8fa331a796d9}">
          <p14:sldIdLst>
            <p14:sldId id="265"/>
            <p14:sldId id="266"/>
            <p14:sldId id="267"/>
            <p14:sldId id="268"/>
          </p14:sldIdLst>
        </p14:section>
        <p14:section name="3. Sow Spirituality" id="{a9ac4811-c681-3a11-804e-7df781e9e99a}">
          <p14:sldIdLst>
            <p14:sldId id="269"/>
            <p14:sldId id="270"/>
            <p14:sldId id="271"/>
            <p14:sldId id="272"/>
          </p14:sldIdLst>
        </p14:section>
        <p14:section name="4. Sow Discipline" id="{4f1ed204-8844-5935-264b-e8ca2a6c6bd7}">
          <p14:sldIdLst>
            <p14:sldId id="273"/>
            <p14:sldId id="274"/>
            <p14:sldId id="275"/>
            <p14:sldId id="276"/>
            <p14:sldId id="277"/>
          </p14:sldIdLst>
        </p14:section>
        <p14:section name="5. Sow A Correct Image" id="{901d755b-d7b8-68d8-7842-35ac0522a5a1}">
          <p14:sldIdLst>
            <p14:sldId id="278"/>
            <p14:sldId id="279"/>
            <p14:sldId id="280"/>
            <p14:sldId id="281"/>
            <p14:sldId id="282"/>
            <p14:sldId id="283"/>
          </p14:sldIdLst>
        </p14:section>
        <p14:section name="Summary" id="{54ff8e5e-4add-4978-22ea-d0425f4481c3}">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Sowing the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are healed and delivered from our old life let us sow positive seeds to our family and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Galatians 6:7 (NIV): Do not be deceived: God cannot be mocked. A man reaps what he sows.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sow positive things we will reap a good harvest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5 things we can start to sow: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Sow Positive Attitudes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Be positive in your words
Ephesians 4:29 (NIV) Do not let any unwholesome talk come out of your mouths, but only what is helpful for building others up according to their needs, that it may benefit those who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II. Sow good works
Matthew 5:16 (NIV) In the same way, let your light shine before men, that they may see your good deeds and praise your Father in heaven.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III. Be kind and loving in how you relate to others
Ephesians 4:31–32 (NIV) Get rid of all bitterness, rage and anger, brawling and slander, along with every form of malice.  Be kind and compassionate to one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Sow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Timothy 4:7–8 (NIV): Have nothing to do with godless myths and old lives' tales; rather, train yourself to be godly.  For physical training is of some value, but godliness has value for all things, holding promise for both the present life and the life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in integrity and godliness
- The Bible says, “Train yourself to be godly.”
- To be godly means to live a God centered life
- Integrity is the quality of being upright morally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in integrity and godliness
- To live in integrity means to live on what is right all the time. NO COMPROMISE with 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Sow Spirituality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Matthew 5:14 (NLT) You are the light of the world—like a city on a mountain, glowing in the night for all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Sowing spirituality means you are bringing the presence of God into your home, school and workplace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sow spirituality?
I. Manifest the Christ-like character
II. Bring prayer
III. Bring the Word of God
IV. Bring the cell group into your home, schools, and workplace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Sow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Discipline is self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Discipline means:
- Self control; not impulsive and uncontrolled
- Order and proper management
- Sticking to right priorities and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Peter 5:8 (NIV): Be self-controlled and alert. Your enemy the devil prowls around like a roaring lion looking for someone to devour.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Corinthians 9:27 (NLT): I discipline my body like an athlete, training it to do what it should. Otherwise, I fear that after preaching to others I myself might be disqualified.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Sow A Correct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sow a correct image is to be at peace with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a correct image means:
- You have a positive self esteem.
- You feel good about yourself.
- You have a healthy outlook of who you are in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a correct image means:
- You see yourself the way God sees you. Unique, precious, lovable and important.
- You see yourself as a winner in Christ and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Psalms 139:13–14 (NIV): For you created my inmost being; you knit me together in my mother's womb.   I praise you because I am fearfully and wonderfully made; your works are wonderful, I know that full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Philippians 4:13 (NKJV): I can do all things through Christ who strengthens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Sowing the Best:
1. Sow positive attitudes
2. Sow integrity
3. Sow spirituality
4. Sow discipline
5. Sow a correct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Title-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Light-Statem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1005840"/>
          </a:xfrm>
          <a:prstGeom prst="rect">
            <a:avLst/>
          </a:prstGeom>
          <a:noFill/>
          <a:ln/>
        </p:spPr>
        <p:txBody>
          <a:bodyPr wrap="square" rtlCol="0"/>
          <a:lstStyle>
            <a:lvl1pPr indent="0" marL="0">
              <a:buNone/>
              <a:defRPr lang="en-US" sz="4000" b="1" dirty="0">
                <a:solidFill>
                  <a:schemeClr val="tx2"/>
                </a:solidFill>
              </a:defRPr>
            </a:lvl1pPr>
          </a:lstStyle>
          <a:p>
            <a:pPr indent="0" marL="0">
              <a:buNone/>
            </a:pPr>
            <a:r>
              <a:rPr lang="en-US" sz="4000" b="1" dirty="0">
                <a:solidFill>
                  <a:schemeClr val="tx2"/>
                </a:solidFill>
              </a:rPr>
              <a:t>Slide title</a:t>
            </a:r>
            <a:endParaRPr lang="en-US" sz="40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3.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3.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itle panel"/>
          <p:cNvSpPr/>
          <p:nvPr/>
        </p:nvSpPr>
        <p:spPr>
          <a:xfrm>
            <a:off x="548640" y="1463040"/>
            <a:ext cx="6126480" cy="3291840"/>
          </a:xfrm>
          <a:prstGeom prst="roundRect">
            <a:avLst>
              <a:gd name="adj" fmla="val 6944"/>
            </a:avLst>
          </a:prstGeom>
          <a:solidFill>
            <a:schemeClr val="tx2">
              <a:alpha val="88000"/>
            </a:schemeClr>
          </a:solidFill>
          <a:ln/>
        </p:spPr>
      </p:sp>
      <p:sp>
        <p:nvSpPr>
          <p:cNvPr id="4" name="Text 1"/>
          <p:cNvSpPr txBox="1"/>
          <p:nvPr/>
        </p:nvSpPr>
        <p:spPr>
          <a:xfrm>
            <a:off x="1005840" y="1737360"/>
            <a:ext cx="5394960" cy="2743200"/>
          </a:xfrm>
          <a:prstGeom prst="rect">
            <a:avLst/>
          </a:prstGeom>
          <a:noFill/>
          <a:ln/>
        </p:spPr>
        <p:txBody>
          <a:bodyPr wrap="square" lIns="0" tIns="0" rIns="0" bIns="0" rtlCol="0" anchor="ctr"/>
          <a:lstStyle/>
          <a:p>
            <a:pPr indent="0" marL="0">
              <a:buNone/>
            </a:pPr>
            <a:r>
              <a:rPr lang="en-US" sz="7600" b="1" dirty="0">
                <a:solidFill>
                  <a:schemeClr val="bg1"/>
                </a:solidFill>
                <a:latin typeface="Cambria" pitchFamily="34" charset="0"/>
                <a:ea typeface="Cambria" pitchFamily="34" charset="-122"/>
                <a:cs typeface="Cambria" pitchFamily="34" charset="-120"/>
              </a:rPr>
              <a:t>Sowing the Best</a:t>
            </a:r>
            <a:endParaRPr lang="en-US" sz="76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tatement"/>
          <p:cNvSpPr txBox="1"/>
          <p:nvPr/>
        </p:nvSpPr>
        <p:spPr>
          <a:xfrm>
            <a:off x="731520" y="914400"/>
            <a:ext cx="6675120" cy="4846320"/>
          </a:xfrm>
          <a:prstGeom prst="rect">
            <a:avLst/>
          </a:prstGeom>
          <a:noFill/>
          <a:ln/>
        </p:spPr>
        <p:txBody>
          <a:bodyPr wrap="square" lIns="0" tIns="0" rIns="0" bIns="0" rtlCol="0" anchor="ctr"/>
          <a:lstStyle/>
          <a:p>
            <a:pPr indent="0" marL="0">
              <a:lnSpc>
                <a:spcPct val="110000"/>
              </a:lnSpc>
              <a:buNone/>
            </a:pPr>
            <a:r>
              <a:rPr lang="en-US" sz="4200" dirty="0">
                <a:solidFill>
                  <a:schemeClr val="tx2"/>
                </a:solidFill>
                <a:latin typeface="Cambria" pitchFamily="34" charset="0"/>
                <a:ea typeface="Cambria" pitchFamily="34" charset="-122"/>
                <a:cs typeface="Cambria" pitchFamily="34" charset="-120"/>
              </a:rPr>
              <a:t>Now that we are healed and delivered from our old life let us sow positive seeds to our family and friends</a:t>
            </a:r>
            <a:endParaRPr lang="en-US" sz="4200" dirty="0"/>
          </a:p>
        </p:txBody>
      </p:sp>
      <p:pic>
        <p:nvPicPr>
          <p:cNvPr id="4" name="Sprout illustration" descr="/tmp/claude-0/-home-user-demohub/4e189e5a-9413-5c63-8621-9705e4931a88/scratchpad/deck/img/sprout.png">    </p:cNvPr>
          <p:cNvPicPr>
            <a:picLocks noChangeAspect="1"/>
          </p:cNvPicPr>
          <p:nvPr/>
        </p:nvPicPr>
        <p:blipFill>
          <a:blip r:embed="rId1"/>
          <a:stretch>
            <a:fillRect/>
          </a:stretch>
        </p:blipFill>
        <p:spPr>
          <a:xfrm>
            <a:off x="7818120" y="1143000"/>
            <a:ext cx="3931920" cy="3931920"/>
          </a:xfrm>
          <a:prstGeom prst="rect">
            <a:avLst/>
          </a:prstGeom>
        </p:spPr>
      </p:pic>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Quote mark"/>
          <p:cNvSpPr txBox="1"/>
          <p:nvPr/>
        </p:nvSpPr>
        <p:spPr>
          <a:xfrm>
            <a:off x="640080" y="228600"/>
            <a:ext cx="1463040" cy="1463040"/>
          </a:xfrm>
          <a:prstGeom prst="rect">
            <a:avLst/>
          </a:prstGeom>
          <a:noFill/>
          <a:ln/>
        </p:spPr>
        <p:txBody>
          <a:bodyPr wrap="square" lIns="0" tIns="0" rIns="0" bIns="0" rtlCol="0" anchor="ctr"/>
          <a:lstStyle/>
          <a:p>
            <a:pPr indent="0" marL="0">
              <a:buNone/>
            </a:pPr>
            <a:r>
              <a:rPr lang="en-US" sz="15000" b="1" dirty="0">
                <a:solidFill>
                  <a:schemeClr val="accent1"/>
                </a:solidFill>
                <a:latin typeface="Cambria" pitchFamily="34" charset="0"/>
                <a:ea typeface="Cambria" pitchFamily="34" charset="-122"/>
                <a:cs typeface="Cambria" pitchFamily="34" charset="-120"/>
              </a:rPr>
              <a:t>“</a:t>
            </a:r>
            <a:endParaRPr lang="en-US" sz="15000" dirty="0"/>
          </a:p>
        </p:txBody>
      </p:sp>
      <p:sp>
        <p:nvSpPr>
          <p:cNvPr id="4" name="Verse"/>
          <p:cNvSpPr txBox="1"/>
          <p:nvPr/>
        </p:nvSpPr>
        <p:spPr>
          <a:xfrm>
            <a:off x="822960" y="1280160"/>
            <a:ext cx="8229600" cy="4114800"/>
          </a:xfrm>
          <a:prstGeom prst="rect">
            <a:avLst/>
          </a:prstGeom>
          <a:noFill/>
          <a:ln/>
        </p:spPr>
        <p:txBody>
          <a:bodyPr wrap="square" lIns="0" tIns="0" rIns="0" bIns="0" rtlCol="0" anchor="ctr"/>
          <a:lstStyle/>
          <a:p>
            <a:pPr indent="0" marL="0">
              <a:lnSpc>
                <a:spcPct val="108000"/>
              </a:lnSpc>
              <a:spcAft>
                <a:spcPts val="600"/>
              </a:spcAft>
              <a:buNone/>
            </a:pPr>
            <a:r>
              <a:rPr lang="en-US" sz="5000" dirty="0">
                <a:solidFill>
                  <a:schemeClr val="bg1"/>
                </a:solidFill>
                <a:latin typeface="Cambria" pitchFamily="34" charset="0"/>
                <a:ea typeface="Cambria" pitchFamily="34" charset="-122"/>
                <a:cs typeface="Cambria" pitchFamily="34" charset="-120"/>
              </a:rPr>
              <a:t>Do not be deceived: God cannot be mocked. A man reaps what he sows.</a:t>
            </a:r>
            <a:endParaRPr lang="en-US" sz="5000" dirty="0"/>
          </a:p>
        </p:txBody>
      </p:sp>
      <p:sp>
        <p:nvSpPr>
          <p:cNvPr id="5"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1"/>
                </a:solidFill>
              </a:rPr>
              <a:t>Galatians 6:7 (NIV)</a:t>
            </a:r>
            <a:endParaRPr lang="en-US" sz="2800" dirty="0"/>
          </a:p>
        </p:txBody>
      </p:sp>
      <p:sp>
        <p:nvSpPr>
          <p:cNvPr id="6" name="Verse icon"/>
          <p:cNvSpPr/>
          <p:nvPr/>
        </p:nvSpPr>
        <p:spPr>
          <a:xfrm>
            <a:off x="9418320" y="2240280"/>
            <a:ext cx="2286000" cy="2286000"/>
          </a:xfrm>
          <a:prstGeom prst="ellipse">
            <a:avLst/>
          </a:prstGeom>
          <a:solidFill>
            <a:schemeClr val="accent1"/>
          </a:solidFill>
          <a:ln/>
        </p:spPr>
      </p:sp>
      <p:pic>
        <p:nvPicPr>
          <p:cNvPr id="7"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tatement"/>
          <p:cNvSpPr txBox="1"/>
          <p:nvPr/>
        </p:nvSpPr>
        <p:spPr>
          <a:xfrm>
            <a:off x="548640" y="457200"/>
            <a:ext cx="11064240" cy="1737360"/>
          </a:xfrm>
          <a:prstGeom prst="rect">
            <a:avLst/>
          </a:prstGeom>
          <a:noFill/>
          <a:ln/>
        </p:spPr>
        <p:txBody>
          <a:bodyPr wrap="square" lIns="0" tIns="0" rIns="0" bIns="0" rtlCol="0" anchor="ctr"/>
          <a:lstStyle/>
          <a:p>
            <a:pPr algn="ctr" indent="0" marL="0">
              <a:buNone/>
            </a:pPr>
            <a:r>
              <a:rPr lang="en-US" sz="4800" b="1" dirty="0">
                <a:solidFill>
                  <a:schemeClr val="tx2"/>
                </a:solidFill>
                <a:latin typeface="Cambria" pitchFamily="34" charset="0"/>
                <a:ea typeface="Cambria" pitchFamily="34" charset="-122"/>
                <a:cs typeface="Cambria" pitchFamily="34" charset="-120"/>
              </a:rPr>
              <a:t>If we sow positive things we will reap a good harvest</a:t>
            </a:r>
            <a:endParaRPr lang="en-US" sz="4800" dirty="0"/>
          </a:p>
        </p:txBody>
      </p:sp>
      <p:pic>
        <p:nvPicPr>
          <p:cNvPr id="4" name="seed illustration" descr="/tmp/claude-0/-home-user-demohub/4e189e5a-9413-5c63-8621-9705e4931a88/scratchpad/deck/img/seed.png">    </p:cNvPr>
          <p:cNvPicPr>
            <a:picLocks noChangeAspect="1"/>
          </p:cNvPicPr>
          <p:nvPr/>
        </p:nvPicPr>
        <p:blipFill>
          <a:blip r:embed="rId1"/>
          <a:stretch>
            <a:fillRect/>
          </a:stretch>
        </p:blipFill>
        <p:spPr>
          <a:xfrm>
            <a:off x="594360" y="2606040"/>
            <a:ext cx="2926080" cy="2926080"/>
          </a:xfrm>
          <a:prstGeom prst="rect">
            <a:avLst/>
          </a:prstGeom>
        </p:spPr>
      </p:pic>
      <p:pic>
        <p:nvPicPr>
          <p:cNvPr id="5" name="Arrow" descr="preencoded.png">    </p:cNvPr>
          <p:cNvPicPr>
            <a:picLocks noChangeAspect="1"/>
          </p:cNvPicPr>
          <p:nvPr/>
        </p:nvPicPr>
        <p:blipFill>
          <a:blip r:embed="rId2"/>
          <a:stretch>
            <a:fillRect/>
          </a:stretch>
        </p:blipFill>
        <p:spPr>
          <a:xfrm>
            <a:off x="3749040" y="3749040"/>
            <a:ext cx="640080" cy="640080"/>
          </a:xfrm>
          <a:prstGeom prst="rect">
            <a:avLst/>
          </a:prstGeom>
        </p:spPr>
      </p:pic>
      <p:pic>
        <p:nvPicPr>
          <p:cNvPr id="6" name="sprout illustration" descr="/tmp/claude-0/-home-user-demohub/4e189e5a-9413-5c63-8621-9705e4931a88/scratchpad/deck/img/sprout.png">    </p:cNvPr>
          <p:cNvPicPr>
            <a:picLocks noChangeAspect="1"/>
          </p:cNvPicPr>
          <p:nvPr/>
        </p:nvPicPr>
        <p:blipFill>
          <a:blip r:embed="rId3"/>
          <a:stretch>
            <a:fillRect/>
          </a:stretch>
        </p:blipFill>
        <p:spPr>
          <a:xfrm>
            <a:off x="4636008" y="2606040"/>
            <a:ext cx="2926080" cy="2926080"/>
          </a:xfrm>
          <a:prstGeom prst="rect">
            <a:avLst/>
          </a:prstGeom>
        </p:spPr>
      </p:pic>
      <p:pic>
        <p:nvPicPr>
          <p:cNvPr id="7" name="Arrow" descr="preencoded.png">    </p:cNvPr>
          <p:cNvPicPr>
            <a:picLocks noChangeAspect="1"/>
          </p:cNvPicPr>
          <p:nvPr/>
        </p:nvPicPr>
        <p:blipFill>
          <a:blip r:embed="rId4"/>
          <a:stretch>
            <a:fillRect/>
          </a:stretch>
        </p:blipFill>
        <p:spPr>
          <a:xfrm>
            <a:off x="7790688" y="3749040"/>
            <a:ext cx="640080" cy="640080"/>
          </a:xfrm>
          <a:prstGeom prst="rect">
            <a:avLst/>
          </a:prstGeom>
        </p:spPr>
      </p:pic>
      <p:pic>
        <p:nvPicPr>
          <p:cNvPr id="8" name="wheat illustration" descr="/tmp/claude-0/-home-user-demohub/4e189e5a-9413-5c63-8621-9705e4931a88/scratchpad/deck/img/wheat.png">    </p:cNvPr>
          <p:cNvPicPr>
            <a:picLocks noChangeAspect="1"/>
          </p:cNvPicPr>
          <p:nvPr/>
        </p:nvPicPr>
        <p:blipFill>
          <a:blip r:embed="rId5"/>
          <a:stretch>
            <a:fillRect/>
          </a:stretch>
        </p:blipFill>
        <p:spPr>
          <a:xfrm>
            <a:off x="8677656" y="2606040"/>
            <a:ext cx="2926080" cy="2926080"/>
          </a:xfrm>
          <a:prstGeom prst="rect">
            <a:avLst/>
          </a:prstGeom>
        </p:spPr>
      </p:pic>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tatement"/>
          <p:cNvSpPr txBox="1"/>
          <p:nvPr/>
        </p:nvSpPr>
        <p:spPr>
          <a:xfrm>
            <a:off x="548640" y="640080"/>
            <a:ext cx="11064240" cy="1463040"/>
          </a:xfrm>
          <a:prstGeom prst="rect">
            <a:avLst/>
          </a:prstGeom>
          <a:noFill/>
          <a:ln/>
        </p:spPr>
        <p:txBody>
          <a:bodyPr wrap="square" lIns="0" tIns="0" rIns="0" bIns="0" rtlCol="0" anchor="ctr"/>
          <a:lstStyle/>
          <a:p>
            <a:pPr algn="ctr" indent="0" marL="0">
              <a:buNone/>
            </a:pPr>
            <a:r>
              <a:rPr lang="en-US" sz="5400" b="1" dirty="0">
                <a:solidFill>
                  <a:schemeClr val="tx2"/>
                </a:solidFill>
                <a:latin typeface="Cambria" pitchFamily="34" charset="0"/>
                <a:ea typeface="Cambria" pitchFamily="34" charset="-122"/>
                <a:cs typeface="Cambria" pitchFamily="34" charset="-120"/>
              </a:rPr>
              <a:t>Here are 5 things we can start to sow:</a:t>
            </a:r>
            <a:endParaRPr lang="en-US" sz="5400" dirty="0"/>
          </a:p>
        </p:txBody>
      </p:sp>
      <p:sp>
        <p:nvSpPr>
          <p:cNvPr id="4" name="Seed icon 1"/>
          <p:cNvSpPr/>
          <p:nvPr/>
        </p:nvSpPr>
        <p:spPr>
          <a:xfrm>
            <a:off x="868680" y="2834640"/>
            <a:ext cx="1737360" cy="1737360"/>
          </a:xfrm>
          <a:prstGeom prst="ellipse">
            <a:avLst/>
          </a:prstGeom>
          <a:solidFill>
            <a:schemeClr val="accent1"/>
          </a:solidFill>
          <a:ln/>
        </p:spPr>
      </p:sp>
      <p:pic>
        <p:nvPicPr>
          <p:cNvPr id="5" name="Seed icon 1 glyph" descr="preencoded.png">    </p:cNvPr>
          <p:cNvPicPr>
            <a:picLocks noChangeAspect="1"/>
          </p:cNvPicPr>
          <p:nvPr/>
        </p:nvPicPr>
        <p:blipFill>
          <a:blip r:embed="rId1"/>
          <a:stretch>
            <a:fillRect/>
          </a:stretch>
        </p:blipFill>
        <p:spPr>
          <a:xfrm>
            <a:off x="1285646" y="3251606"/>
            <a:ext cx="903427" cy="903427"/>
          </a:xfrm>
          <a:prstGeom prst="rect">
            <a:avLst/>
          </a:prstGeom>
        </p:spPr>
      </p:pic>
      <p:sp>
        <p:nvSpPr>
          <p:cNvPr id="6" name="Text 2"/>
          <p:cNvSpPr txBox="1"/>
          <p:nvPr/>
        </p:nvSpPr>
        <p:spPr>
          <a:xfrm>
            <a:off x="86868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a:t>
            </a:r>
            <a:endParaRPr lang="en-US" sz="4400" dirty="0"/>
          </a:p>
        </p:txBody>
      </p:sp>
      <p:sp>
        <p:nvSpPr>
          <p:cNvPr id="7" name="Seed icon 2"/>
          <p:cNvSpPr/>
          <p:nvPr/>
        </p:nvSpPr>
        <p:spPr>
          <a:xfrm>
            <a:off x="3063240" y="2834640"/>
            <a:ext cx="1737360" cy="1737360"/>
          </a:xfrm>
          <a:prstGeom prst="ellipse">
            <a:avLst/>
          </a:prstGeom>
          <a:solidFill>
            <a:schemeClr val="accent2"/>
          </a:solidFill>
          <a:ln/>
        </p:spPr>
      </p:sp>
      <p:pic>
        <p:nvPicPr>
          <p:cNvPr id="8" name="Seed icon 2 glyph" descr="preencoded.png">    </p:cNvPr>
          <p:cNvPicPr>
            <a:picLocks noChangeAspect="1"/>
          </p:cNvPicPr>
          <p:nvPr/>
        </p:nvPicPr>
        <p:blipFill>
          <a:blip r:embed="rId2"/>
          <a:stretch>
            <a:fillRect/>
          </a:stretch>
        </p:blipFill>
        <p:spPr>
          <a:xfrm>
            <a:off x="3480206" y="3251606"/>
            <a:ext cx="903427" cy="903427"/>
          </a:xfrm>
          <a:prstGeom prst="rect">
            <a:avLst/>
          </a:prstGeom>
        </p:spPr>
      </p:pic>
      <p:sp>
        <p:nvSpPr>
          <p:cNvPr id="9" name="Text 4"/>
          <p:cNvSpPr txBox="1"/>
          <p:nvPr/>
        </p:nvSpPr>
        <p:spPr>
          <a:xfrm>
            <a:off x="306324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2"/>
                </a:solidFill>
                <a:latin typeface="Cambria" pitchFamily="34" charset="0"/>
                <a:ea typeface="Cambria" pitchFamily="34" charset="-122"/>
                <a:cs typeface="Cambria" pitchFamily="34" charset="-120"/>
              </a:rPr>
              <a:t>2</a:t>
            </a:r>
            <a:endParaRPr lang="en-US" sz="4400" dirty="0"/>
          </a:p>
        </p:txBody>
      </p:sp>
      <p:sp>
        <p:nvSpPr>
          <p:cNvPr id="10" name="Seed icon 3"/>
          <p:cNvSpPr/>
          <p:nvPr/>
        </p:nvSpPr>
        <p:spPr>
          <a:xfrm>
            <a:off x="5257800" y="2834640"/>
            <a:ext cx="1737360" cy="1737360"/>
          </a:xfrm>
          <a:prstGeom prst="ellipse">
            <a:avLst/>
          </a:prstGeom>
          <a:solidFill>
            <a:schemeClr val="accent3"/>
          </a:solidFill>
          <a:ln/>
        </p:spPr>
      </p:sp>
      <p:pic>
        <p:nvPicPr>
          <p:cNvPr id="11" name="Seed icon 3 glyph" descr="preencoded.png">    </p:cNvPr>
          <p:cNvPicPr>
            <a:picLocks noChangeAspect="1"/>
          </p:cNvPicPr>
          <p:nvPr/>
        </p:nvPicPr>
        <p:blipFill>
          <a:blip r:embed="rId3"/>
          <a:stretch>
            <a:fillRect/>
          </a:stretch>
        </p:blipFill>
        <p:spPr>
          <a:xfrm>
            <a:off x="5674766" y="3251606"/>
            <a:ext cx="903427" cy="903427"/>
          </a:xfrm>
          <a:prstGeom prst="rect">
            <a:avLst/>
          </a:prstGeom>
        </p:spPr>
      </p:pic>
      <p:sp>
        <p:nvSpPr>
          <p:cNvPr id="12" name="Text 6"/>
          <p:cNvSpPr txBox="1"/>
          <p:nvPr/>
        </p:nvSpPr>
        <p:spPr>
          <a:xfrm>
            <a:off x="525780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3"/>
                </a:solidFill>
                <a:latin typeface="Cambria" pitchFamily="34" charset="0"/>
                <a:ea typeface="Cambria" pitchFamily="34" charset="-122"/>
                <a:cs typeface="Cambria" pitchFamily="34" charset="-120"/>
              </a:rPr>
              <a:t>3</a:t>
            </a:r>
            <a:endParaRPr lang="en-US" sz="4400" dirty="0"/>
          </a:p>
        </p:txBody>
      </p:sp>
      <p:sp>
        <p:nvSpPr>
          <p:cNvPr id="13" name="Seed icon 4"/>
          <p:cNvSpPr/>
          <p:nvPr/>
        </p:nvSpPr>
        <p:spPr>
          <a:xfrm>
            <a:off x="7452360" y="2834640"/>
            <a:ext cx="1737360" cy="1737360"/>
          </a:xfrm>
          <a:prstGeom prst="ellipse">
            <a:avLst/>
          </a:prstGeom>
          <a:solidFill>
            <a:schemeClr val="accent4"/>
          </a:solidFill>
          <a:ln/>
        </p:spPr>
      </p:sp>
      <p:pic>
        <p:nvPicPr>
          <p:cNvPr id="14" name="Seed icon 4 glyph" descr="preencoded.png">    </p:cNvPr>
          <p:cNvPicPr>
            <a:picLocks noChangeAspect="1"/>
          </p:cNvPicPr>
          <p:nvPr/>
        </p:nvPicPr>
        <p:blipFill>
          <a:blip r:embed="rId4"/>
          <a:stretch>
            <a:fillRect/>
          </a:stretch>
        </p:blipFill>
        <p:spPr>
          <a:xfrm>
            <a:off x="7869326" y="3251606"/>
            <a:ext cx="903427" cy="903427"/>
          </a:xfrm>
          <a:prstGeom prst="rect">
            <a:avLst/>
          </a:prstGeom>
        </p:spPr>
      </p:pic>
      <p:sp>
        <p:nvSpPr>
          <p:cNvPr id="15" name="Text 8"/>
          <p:cNvSpPr txBox="1"/>
          <p:nvPr/>
        </p:nvSpPr>
        <p:spPr>
          <a:xfrm>
            <a:off x="745236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4"/>
                </a:solidFill>
                <a:latin typeface="Cambria" pitchFamily="34" charset="0"/>
                <a:ea typeface="Cambria" pitchFamily="34" charset="-122"/>
                <a:cs typeface="Cambria" pitchFamily="34" charset="-120"/>
              </a:rPr>
              <a:t>4</a:t>
            </a:r>
            <a:endParaRPr lang="en-US" sz="4400" dirty="0"/>
          </a:p>
        </p:txBody>
      </p:sp>
      <p:sp>
        <p:nvSpPr>
          <p:cNvPr id="16" name="Seed icon 5"/>
          <p:cNvSpPr/>
          <p:nvPr/>
        </p:nvSpPr>
        <p:spPr>
          <a:xfrm>
            <a:off x="9646920" y="2834640"/>
            <a:ext cx="1737360" cy="1737360"/>
          </a:xfrm>
          <a:prstGeom prst="ellipse">
            <a:avLst/>
          </a:prstGeom>
          <a:solidFill>
            <a:schemeClr val="accent5"/>
          </a:solidFill>
          <a:ln/>
        </p:spPr>
      </p:sp>
      <p:pic>
        <p:nvPicPr>
          <p:cNvPr id="17" name="Seed icon 5 glyph" descr="preencoded.png">    </p:cNvPr>
          <p:cNvPicPr>
            <a:picLocks noChangeAspect="1"/>
          </p:cNvPicPr>
          <p:nvPr/>
        </p:nvPicPr>
        <p:blipFill>
          <a:blip r:embed="rId5"/>
          <a:stretch>
            <a:fillRect/>
          </a:stretch>
        </p:blipFill>
        <p:spPr>
          <a:xfrm>
            <a:off x="10063886" y="3251606"/>
            <a:ext cx="903427" cy="903427"/>
          </a:xfrm>
          <a:prstGeom prst="rect">
            <a:avLst/>
          </a:prstGeom>
        </p:spPr>
      </p:pic>
      <p:sp>
        <p:nvSpPr>
          <p:cNvPr id="18" name="Text 10"/>
          <p:cNvSpPr txBox="1"/>
          <p:nvPr/>
        </p:nvSpPr>
        <p:spPr>
          <a:xfrm>
            <a:off x="9646920" y="4709160"/>
            <a:ext cx="1737360" cy="822960"/>
          </a:xfrm>
          <a:prstGeom prst="rect">
            <a:avLst/>
          </a:prstGeom>
          <a:noFill/>
          <a:ln/>
        </p:spPr>
        <p:txBody>
          <a:bodyPr wrap="square" lIns="0" tIns="0" rIns="0" bIns="0" rtlCol="0" anchor="ctr"/>
          <a:lstStyle/>
          <a:p>
            <a:pPr algn="ctr" indent="0" marL="0">
              <a:buNone/>
            </a:pPr>
            <a:r>
              <a:rPr lang="en-US" sz="4400" b="1" dirty="0">
                <a:solidFill>
                  <a:schemeClr val="accent5"/>
                </a:solidFill>
                <a:latin typeface="Cambria" pitchFamily="34" charset="0"/>
                <a:ea typeface="Cambria" pitchFamily="34" charset="-122"/>
                <a:cs typeface="Cambria" pitchFamily="34" charset="-120"/>
              </a:rPr>
              <a:t>5</a:t>
            </a:r>
            <a:endParaRPr lang="en-US" sz="44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1"/>
                </a:solidFill>
                <a:latin typeface="Cambria" pitchFamily="34" charset="0"/>
                <a:ea typeface="Cambria" pitchFamily="34" charset="-122"/>
                <a:cs typeface="Cambria" pitchFamily="34" charset="-120"/>
              </a:rPr>
              <a:t>1.</a:t>
            </a:r>
            <a:endParaRPr lang="en-US" sz="25000" dirty="0"/>
          </a:p>
        </p:txBody>
      </p:sp>
      <p:sp>
        <p:nvSpPr>
          <p:cNvPr id="4" name="Section title"/>
          <p:cNvSpPr txBox="1"/>
          <p:nvPr/>
        </p:nvSpPr>
        <p:spPr>
          <a:xfrm>
            <a:off x="3749040" y="1737360"/>
            <a:ext cx="502920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Positive Attitudes</a:t>
            </a:r>
            <a:endParaRPr lang="en-US" sz="6000" dirty="0"/>
          </a:p>
        </p:txBody>
      </p:sp>
      <p:sp>
        <p:nvSpPr>
          <p:cNvPr id="5" name="Section icon"/>
          <p:cNvSpPr/>
          <p:nvPr/>
        </p:nvSpPr>
        <p:spPr>
          <a:xfrm>
            <a:off x="8915400" y="1874520"/>
            <a:ext cx="2926080" cy="2926080"/>
          </a:xfrm>
          <a:prstGeom prst="ellipse">
            <a:avLst/>
          </a:prstGeom>
          <a:solidFill>
            <a:schemeClr val="accent1"/>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I. Be positive in your words</a:t>
            </a:r>
            <a:endParaRPr lang="en-US" sz="4000" dirty="0"/>
          </a:p>
        </p:txBody>
      </p:sp>
      <p:sp>
        <p:nvSpPr>
          <p:cNvPr id="4" name="Point icon"/>
          <p:cNvSpPr/>
          <p:nvPr/>
        </p:nvSpPr>
        <p:spPr>
          <a:xfrm>
            <a:off x="731520" y="2057400"/>
            <a:ext cx="2743200" cy="2743200"/>
          </a:xfrm>
          <a:prstGeom prst="ellipse">
            <a:avLst/>
          </a:prstGeom>
          <a:solidFill>
            <a:schemeClr val="accent1"/>
          </a:solidFill>
          <a:ln/>
        </p:spPr>
      </p:sp>
      <p:pic>
        <p:nvPicPr>
          <p:cNvPr id="5" name="Point icon glyph" descr="preencoded.png">    </p:cNvPr>
          <p:cNvPicPr>
            <a:picLocks noChangeAspect="1"/>
          </p:cNvPicPr>
          <p:nvPr/>
        </p:nvPicPr>
        <p:blipFill>
          <a:blip r:embed="rId1"/>
          <a:stretch>
            <a:fillRect/>
          </a:stretch>
        </p:blipFill>
        <p:spPr>
          <a:xfrm>
            <a:off x="1389888" y="2715768"/>
            <a:ext cx="1426464" cy="1426464"/>
          </a:xfrm>
          <a:prstGeom prst="rect">
            <a:avLst/>
          </a:prstGeom>
        </p:spPr>
      </p:pic>
      <p:sp>
        <p:nvSpPr>
          <p:cNvPr id="6" name="Verse card"/>
          <p:cNvSpPr/>
          <p:nvPr/>
        </p:nvSpPr>
        <p:spPr>
          <a:xfrm>
            <a:off x="4023360" y="1600200"/>
            <a:ext cx="7589520" cy="4434840"/>
          </a:xfrm>
          <a:prstGeom prst="roundRect">
            <a:avLst>
              <a:gd name="adj" fmla="val 4124"/>
            </a:avLst>
          </a:prstGeom>
          <a:solidFill>
            <a:schemeClr val="bg2"/>
          </a:solidFill>
          <a:ln/>
          <a:effectLst>
            <a:outerShdw sx="100000" sy="100000" kx="0" ky="0" algn="bl" rotWithShape="0" blurRad="127000" dist="38100" dir="5400000">
              <a:srgbClr val="1E4D2B">
                <a:alpha val="18000"/>
              </a:srgbClr>
            </a:outerShdw>
          </a:effectLst>
        </p:spPr>
      </p:sp>
      <p:sp>
        <p:nvSpPr>
          <p:cNvPr id="7" name="Verse"/>
          <p:cNvSpPr txBox="1"/>
          <p:nvPr/>
        </p:nvSpPr>
        <p:spPr>
          <a:xfrm>
            <a:off x="4434840" y="1828800"/>
            <a:ext cx="6766560" cy="3291840"/>
          </a:xfrm>
          <a:prstGeom prst="rect">
            <a:avLst/>
          </a:prstGeom>
          <a:noFill/>
          <a:ln/>
        </p:spPr>
        <p:txBody>
          <a:bodyPr wrap="square" lIns="0" tIns="0" rIns="0" bIns="0" rtlCol="0" anchor="ctr"/>
          <a:lstStyle/>
          <a:p>
            <a:pPr indent="0" marL="0">
              <a:lnSpc>
                <a:spcPct val="105000"/>
              </a:lnSpc>
              <a:buNone/>
            </a:pPr>
            <a:r>
              <a:rPr lang="en-US" sz="3200" dirty="0">
                <a:solidFill>
                  <a:schemeClr val="tx1"/>
                </a:solidFill>
              </a:rPr>
              <a:t>Do not let any unwholesome talk come out of your mouths, but only what is helpful for building others up according to their needs, that it may benefit those who listen.</a:t>
            </a:r>
            <a:endParaRPr lang="en-US" sz="3200" dirty="0"/>
          </a:p>
        </p:txBody>
      </p:sp>
      <p:sp>
        <p:nvSpPr>
          <p:cNvPr id="8" name="Reference"/>
          <p:cNvSpPr txBox="1"/>
          <p:nvPr/>
        </p:nvSpPr>
        <p:spPr>
          <a:xfrm>
            <a:off x="4434840" y="5257800"/>
            <a:ext cx="6766560" cy="548640"/>
          </a:xfrm>
          <a:prstGeom prst="rect">
            <a:avLst/>
          </a:prstGeom>
          <a:noFill/>
          <a:ln/>
        </p:spPr>
        <p:txBody>
          <a:bodyPr wrap="square" lIns="0" tIns="0" rIns="0" bIns="0" rtlCol="0" anchor="ctr"/>
          <a:lstStyle/>
          <a:p>
            <a:pPr indent="0" marL="0">
              <a:buNone/>
            </a:pPr>
            <a:r>
              <a:rPr lang="en-US" sz="2600" b="1" dirty="0">
                <a:solidFill>
                  <a:schemeClr val="accent4"/>
                </a:solidFill>
              </a:rPr>
              <a:t>Ephesians 4:29 (NIV)</a:t>
            </a:r>
            <a:endParaRPr lang="en-US" sz="2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II. Sow good works</a:t>
            </a:r>
            <a:endParaRPr lang="en-US" sz="4000" dirty="0"/>
          </a:p>
        </p:txBody>
      </p:sp>
      <p:sp>
        <p:nvSpPr>
          <p:cNvPr id="4" name="Point icon"/>
          <p:cNvSpPr/>
          <p:nvPr/>
        </p:nvSpPr>
        <p:spPr>
          <a:xfrm>
            <a:off x="731520" y="2057400"/>
            <a:ext cx="2743200" cy="2743200"/>
          </a:xfrm>
          <a:prstGeom prst="ellipse">
            <a:avLst/>
          </a:prstGeom>
          <a:solidFill>
            <a:schemeClr val="accent1"/>
          </a:solidFill>
          <a:ln/>
        </p:spPr>
      </p:sp>
      <p:pic>
        <p:nvPicPr>
          <p:cNvPr id="5" name="Point icon glyph" descr="preencoded.png">    </p:cNvPr>
          <p:cNvPicPr>
            <a:picLocks noChangeAspect="1"/>
          </p:cNvPicPr>
          <p:nvPr/>
        </p:nvPicPr>
        <p:blipFill>
          <a:blip r:embed="rId1"/>
          <a:stretch>
            <a:fillRect/>
          </a:stretch>
        </p:blipFill>
        <p:spPr>
          <a:xfrm>
            <a:off x="1389888" y="2715768"/>
            <a:ext cx="1426464" cy="1426464"/>
          </a:xfrm>
          <a:prstGeom prst="rect">
            <a:avLst/>
          </a:prstGeom>
        </p:spPr>
      </p:pic>
      <p:sp>
        <p:nvSpPr>
          <p:cNvPr id="6" name="Verse card"/>
          <p:cNvSpPr/>
          <p:nvPr/>
        </p:nvSpPr>
        <p:spPr>
          <a:xfrm>
            <a:off x="4023360" y="1600200"/>
            <a:ext cx="7589520" cy="4434840"/>
          </a:xfrm>
          <a:prstGeom prst="roundRect">
            <a:avLst>
              <a:gd name="adj" fmla="val 4124"/>
            </a:avLst>
          </a:prstGeom>
          <a:solidFill>
            <a:schemeClr val="bg2"/>
          </a:solidFill>
          <a:ln/>
          <a:effectLst>
            <a:outerShdw sx="100000" sy="100000" kx="0" ky="0" algn="bl" rotWithShape="0" blurRad="127000" dist="38100" dir="5400000">
              <a:srgbClr val="1E4D2B">
                <a:alpha val="18000"/>
              </a:srgbClr>
            </a:outerShdw>
          </a:effectLst>
        </p:spPr>
      </p:sp>
      <p:sp>
        <p:nvSpPr>
          <p:cNvPr id="7" name="Verse"/>
          <p:cNvSpPr txBox="1"/>
          <p:nvPr/>
        </p:nvSpPr>
        <p:spPr>
          <a:xfrm>
            <a:off x="4434840" y="1828800"/>
            <a:ext cx="6766560" cy="3291840"/>
          </a:xfrm>
          <a:prstGeom prst="rect">
            <a:avLst/>
          </a:prstGeom>
          <a:noFill/>
          <a:ln/>
        </p:spPr>
        <p:txBody>
          <a:bodyPr wrap="square" lIns="0" tIns="0" rIns="0" bIns="0" rtlCol="0" anchor="ctr"/>
          <a:lstStyle/>
          <a:p>
            <a:pPr indent="0" marL="0">
              <a:lnSpc>
                <a:spcPct val="105000"/>
              </a:lnSpc>
              <a:buNone/>
            </a:pPr>
            <a:r>
              <a:rPr lang="en-US" sz="3200" dirty="0">
                <a:solidFill>
                  <a:schemeClr val="tx1"/>
                </a:solidFill>
              </a:rPr>
              <a:t>In the same way, let your light shine before men, that they may see your good deeds and praise your Father in heaven.</a:t>
            </a:r>
            <a:endParaRPr lang="en-US" sz="3200" dirty="0"/>
          </a:p>
        </p:txBody>
      </p:sp>
      <p:sp>
        <p:nvSpPr>
          <p:cNvPr id="8" name="Reference"/>
          <p:cNvSpPr txBox="1"/>
          <p:nvPr/>
        </p:nvSpPr>
        <p:spPr>
          <a:xfrm>
            <a:off x="4434840" y="5257800"/>
            <a:ext cx="6766560" cy="548640"/>
          </a:xfrm>
          <a:prstGeom prst="rect">
            <a:avLst/>
          </a:prstGeom>
          <a:noFill/>
          <a:ln/>
        </p:spPr>
        <p:txBody>
          <a:bodyPr wrap="square" lIns="0" tIns="0" rIns="0" bIns="0" rtlCol="0" anchor="ctr"/>
          <a:lstStyle/>
          <a:p>
            <a:pPr indent="0" marL="0">
              <a:buNone/>
            </a:pPr>
            <a:r>
              <a:rPr lang="en-US" sz="2600" b="1" dirty="0">
                <a:solidFill>
                  <a:schemeClr val="accent4"/>
                </a:solidFill>
              </a:rPr>
              <a:t>Matthew 5:16 (NIV)</a:t>
            </a:r>
            <a:endParaRPr lang="en-US" sz="2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III. Be kind and loving in how you relate to others</a:t>
            </a:r>
            <a:endParaRPr lang="en-US" sz="4000" dirty="0"/>
          </a:p>
        </p:txBody>
      </p:sp>
      <p:sp>
        <p:nvSpPr>
          <p:cNvPr id="4" name="Point icon"/>
          <p:cNvSpPr/>
          <p:nvPr/>
        </p:nvSpPr>
        <p:spPr>
          <a:xfrm>
            <a:off x="731520" y="2057400"/>
            <a:ext cx="2743200" cy="2743200"/>
          </a:xfrm>
          <a:prstGeom prst="ellipse">
            <a:avLst/>
          </a:prstGeom>
          <a:solidFill>
            <a:schemeClr val="accent1"/>
          </a:solidFill>
          <a:ln/>
        </p:spPr>
      </p:sp>
      <p:pic>
        <p:nvPicPr>
          <p:cNvPr id="5" name="Point icon glyph" descr="preencoded.png">    </p:cNvPr>
          <p:cNvPicPr>
            <a:picLocks noChangeAspect="1"/>
          </p:cNvPicPr>
          <p:nvPr/>
        </p:nvPicPr>
        <p:blipFill>
          <a:blip r:embed="rId1"/>
          <a:stretch>
            <a:fillRect/>
          </a:stretch>
        </p:blipFill>
        <p:spPr>
          <a:xfrm>
            <a:off x="1389888" y="2715768"/>
            <a:ext cx="1426464" cy="1426464"/>
          </a:xfrm>
          <a:prstGeom prst="rect">
            <a:avLst/>
          </a:prstGeom>
        </p:spPr>
      </p:pic>
      <p:sp>
        <p:nvSpPr>
          <p:cNvPr id="6" name="Verse card"/>
          <p:cNvSpPr/>
          <p:nvPr/>
        </p:nvSpPr>
        <p:spPr>
          <a:xfrm>
            <a:off x="4023360" y="1600200"/>
            <a:ext cx="7589520" cy="4434840"/>
          </a:xfrm>
          <a:prstGeom prst="roundRect">
            <a:avLst>
              <a:gd name="adj" fmla="val 4124"/>
            </a:avLst>
          </a:prstGeom>
          <a:solidFill>
            <a:schemeClr val="bg2"/>
          </a:solidFill>
          <a:ln/>
          <a:effectLst>
            <a:outerShdw sx="100000" sy="100000" kx="0" ky="0" algn="bl" rotWithShape="0" blurRad="127000" dist="38100" dir="5400000">
              <a:srgbClr val="1E4D2B">
                <a:alpha val="18000"/>
              </a:srgbClr>
            </a:outerShdw>
          </a:effectLst>
        </p:spPr>
      </p:sp>
      <p:sp>
        <p:nvSpPr>
          <p:cNvPr id="7" name="Verse"/>
          <p:cNvSpPr txBox="1"/>
          <p:nvPr/>
        </p:nvSpPr>
        <p:spPr>
          <a:xfrm>
            <a:off x="4434840" y="1828800"/>
            <a:ext cx="6766560" cy="3291840"/>
          </a:xfrm>
          <a:prstGeom prst="rect">
            <a:avLst/>
          </a:prstGeom>
          <a:noFill/>
          <a:ln/>
        </p:spPr>
        <p:txBody>
          <a:bodyPr wrap="square" lIns="0" tIns="0" rIns="0" bIns="0" rtlCol="0" anchor="ctr"/>
          <a:lstStyle/>
          <a:p>
            <a:pPr indent="0" marL="0">
              <a:lnSpc>
                <a:spcPct val="105000"/>
              </a:lnSpc>
              <a:buNone/>
            </a:pPr>
            <a:r>
              <a:rPr lang="en-US" sz="3200" dirty="0">
                <a:solidFill>
                  <a:schemeClr val="tx1"/>
                </a:solidFill>
              </a:rPr>
              <a:t>Get rid of all bitterness, rage and anger, brawling and slander, along with every form of malice.  Be kind and compassionate to one another…</a:t>
            </a:r>
            <a:endParaRPr lang="en-US" sz="3200" dirty="0"/>
          </a:p>
        </p:txBody>
      </p:sp>
      <p:sp>
        <p:nvSpPr>
          <p:cNvPr id="8" name="Reference"/>
          <p:cNvSpPr txBox="1"/>
          <p:nvPr/>
        </p:nvSpPr>
        <p:spPr>
          <a:xfrm>
            <a:off x="4434840" y="5257800"/>
            <a:ext cx="6766560" cy="548640"/>
          </a:xfrm>
          <a:prstGeom prst="rect">
            <a:avLst/>
          </a:prstGeom>
          <a:noFill/>
          <a:ln/>
        </p:spPr>
        <p:txBody>
          <a:bodyPr wrap="square" lIns="0" tIns="0" rIns="0" bIns="0" rtlCol="0" anchor="ctr"/>
          <a:lstStyle/>
          <a:p>
            <a:pPr indent="0" marL="0">
              <a:buNone/>
            </a:pPr>
            <a:r>
              <a:rPr lang="en-US" sz="2600" b="1" dirty="0">
                <a:solidFill>
                  <a:schemeClr val="accent4"/>
                </a:solidFill>
              </a:rPr>
              <a:t>Ephesians 4:31–32 (NIV)</a:t>
            </a:r>
            <a:endParaRPr lang="en-US" sz="2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2"/>
                </a:solidFill>
                <a:latin typeface="Cambria" pitchFamily="34" charset="0"/>
                <a:ea typeface="Cambria" pitchFamily="34" charset="-122"/>
                <a:cs typeface="Cambria" pitchFamily="34" charset="-120"/>
              </a:rPr>
              <a:t>2.</a:t>
            </a:r>
            <a:endParaRPr lang="en-US" sz="25000" dirty="0"/>
          </a:p>
        </p:txBody>
      </p:sp>
      <p:sp>
        <p:nvSpPr>
          <p:cNvPr id="4" name="Section title"/>
          <p:cNvSpPr txBox="1"/>
          <p:nvPr/>
        </p:nvSpPr>
        <p:spPr>
          <a:xfrm>
            <a:off x="3749040" y="1737360"/>
            <a:ext cx="502920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Integrity</a:t>
            </a:r>
            <a:endParaRPr lang="en-US" sz="6000" dirty="0"/>
          </a:p>
        </p:txBody>
      </p:sp>
      <p:sp>
        <p:nvSpPr>
          <p:cNvPr id="5" name="Section icon"/>
          <p:cNvSpPr/>
          <p:nvPr/>
        </p:nvSpPr>
        <p:spPr>
          <a:xfrm>
            <a:off x="8915400" y="1874520"/>
            <a:ext cx="2926080" cy="2926080"/>
          </a:xfrm>
          <a:prstGeom prst="ellipse">
            <a:avLst/>
          </a:prstGeom>
          <a:solidFill>
            <a:schemeClr val="accent2"/>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Quote mark"/>
          <p:cNvSpPr txBox="1"/>
          <p:nvPr/>
        </p:nvSpPr>
        <p:spPr>
          <a:xfrm>
            <a:off x="640080" y="228600"/>
            <a:ext cx="1463040" cy="1463040"/>
          </a:xfrm>
          <a:prstGeom prst="rect">
            <a:avLst/>
          </a:prstGeom>
          <a:noFill/>
          <a:ln/>
        </p:spPr>
        <p:txBody>
          <a:bodyPr wrap="square" lIns="0" tIns="0" rIns="0" bIns="0" rtlCol="0" anchor="ctr"/>
          <a:lstStyle/>
          <a:p>
            <a:pPr indent="0" marL="0">
              <a:buNone/>
            </a:pPr>
            <a:r>
              <a:rPr lang="en-US" sz="15000" b="1" dirty="0">
                <a:solidFill>
                  <a:schemeClr val="accent2"/>
                </a:solidFill>
                <a:latin typeface="Cambria" pitchFamily="34" charset="0"/>
                <a:ea typeface="Cambria" pitchFamily="34" charset="-122"/>
                <a:cs typeface="Cambria" pitchFamily="34" charset="-120"/>
              </a:rPr>
              <a:t>“</a:t>
            </a:r>
            <a:endParaRPr lang="en-US" sz="15000" dirty="0"/>
          </a:p>
        </p:txBody>
      </p:sp>
      <p:sp>
        <p:nvSpPr>
          <p:cNvPr id="4" name="Verse"/>
          <p:cNvSpPr txBox="1"/>
          <p:nvPr/>
        </p:nvSpPr>
        <p:spPr>
          <a:xfrm>
            <a:off x="822960" y="1280160"/>
            <a:ext cx="8229600" cy="4114800"/>
          </a:xfrm>
          <a:prstGeom prst="rect">
            <a:avLst/>
          </a:prstGeom>
          <a:noFill/>
          <a:ln/>
        </p:spPr>
        <p:txBody>
          <a:bodyPr wrap="square" lIns="0" tIns="0" rIns="0" bIns="0" rtlCol="0" anchor="ctr"/>
          <a:lstStyle/>
          <a:p>
            <a:pPr indent="0" marL="0">
              <a:lnSpc>
                <a:spcPct val="108000"/>
              </a:lnSpc>
              <a:spcAft>
                <a:spcPts val="600"/>
              </a:spcAft>
              <a:buNone/>
            </a:pPr>
            <a:r>
              <a:rPr lang="en-US" sz="3200" dirty="0">
                <a:solidFill>
                  <a:schemeClr val="bg1"/>
                </a:solidFill>
                <a:latin typeface="Cambria" pitchFamily="34" charset="0"/>
                <a:ea typeface="Cambria" pitchFamily="34" charset="-122"/>
                <a:cs typeface="Cambria" pitchFamily="34" charset="-120"/>
              </a:rPr>
              <a:t>Have nothing to do with godless myths and old lives' tales; rather, </a:t>
            </a:r>
            <a:pPr indent="0" marL="0">
              <a:lnSpc>
                <a:spcPct val="108000"/>
              </a:lnSpc>
              <a:spcAft>
                <a:spcPts val="600"/>
              </a:spcAft>
              <a:buNone/>
            </a:pPr>
            <a:r>
              <a:rPr lang="en-US" sz="3200" b="1" dirty="0">
                <a:solidFill>
                  <a:schemeClr val="accent1"/>
                </a:solidFill>
                <a:latin typeface="Cambria" pitchFamily="34" charset="0"/>
                <a:ea typeface="Cambria" pitchFamily="34" charset="-122"/>
                <a:cs typeface="Cambria" pitchFamily="34" charset="-120"/>
              </a:rPr>
              <a:t>train yourself to be godly</a:t>
            </a:r>
            <a:pPr indent="0" marL="0">
              <a:lnSpc>
                <a:spcPct val="108000"/>
              </a:lnSpc>
              <a:spcAft>
                <a:spcPts val="600"/>
              </a:spcAft>
              <a:buNone/>
            </a:pPr>
            <a:r>
              <a:rPr lang="en-US" sz="3200" dirty="0">
                <a:solidFill>
                  <a:schemeClr val="bg1"/>
                </a:solidFill>
                <a:latin typeface="Cambria" pitchFamily="34" charset="0"/>
                <a:ea typeface="Cambria" pitchFamily="34" charset="-122"/>
                <a:cs typeface="Cambria" pitchFamily="34" charset="-120"/>
              </a:rPr>
              <a:t>.  For physical training is of some value, but </a:t>
            </a:r>
            <a:pPr indent="0" marL="0">
              <a:lnSpc>
                <a:spcPct val="108000"/>
              </a:lnSpc>
              <a:spcAft>
                <a:spcPts val="600"/>
              </a:spcAft>
              <a:buNone/>
            </a:pPr>
            <a:r>
              <a:rPr lang="en-US" sz="3200" b="1" dirty="0">
                <a:solidFill>
                  <a:schemeClr val="accent1"/>
                </a:solidFill>
                <a:latin typeface="Cambria" pitchFamily="34" charset="0"/>
                <a:ea typeface="Cambria" pitchFamily="34" charset="-122"/>
                <a:cs typeface="Cambria" pitchFamily="34" charset="-120"/>
              </a:rPr>
              <a:t>godliness has value for all things</a:t>
            </a:r>
            <a:pPr indent="0" marL="0">
              <a:lnSpc>
                <a:spcPct val="108000"/>
              </a:lnSpc>
              <a:spcAft>
                <a:spcPts val="600"/>
              </a:spcAft>
              <a:buNone/>
            </a:pPr>
            <a:r>
              <a:rPr lang="en-US" sz="3200" dirty="0">
                <a:solidFill>
                  <a:schemeClr val="bg1"/>
                </a:solidFill>
                <a:latin typeface="Cambria" pitchFamily="34" charset="0"/>
                <a:ea typeface="Cambria" pitchFamily="34" charset="-122"/>
                <a:cs typeface="Cambria" pitchFamily="34" charset="-120"/>
              </a:rPr>
              <a:t>, holding promise for both the present life and the life to come.</a:t>
            </a:r>
            <a:endParaRPr lang="en-US" sz="3200" dirty="0"/>
          </a:p>
        </p:txBody>
      </p:sp>
      <p:sp>
        <p:nvSpPr>
          <p:cNvPr id="5"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1"/>
                </a:solidFill>
              </a:rPr>
              <a:t>1 Timothy 4:7–8 (NIV)</a:t>
            </a:r>
            <a:endParaRPr lang="en-US" sz="2800" dirty="0"/>
          </a:p>
        </p:txBody>
      </p:sp>
      <p:sp>
        <p:nvSpPr>
          <p:cNvPr id="6" name="Verse icon"/>
          <p:cNvSpPr/>
          <p:nvPr/>
        </p:nvSpPr>
        <p:spPr>
          <a:xfrm>
            <a:off x="9418320" y="2240280"/>
            <a:ext cx="2286000" cy="2286000"/>
          </a:xfrm>
          <a:prstGeom prst="ellipse">
            <a:avLst/>
          </a:prstGeom>
          <a:solidFill>
            <a:schemeClr val="accent2"/>
          </a:solidFill>
          <a:ln/>
        </p:spPr>
      </p:sp>
      <p:pic>
        <p:nvPicPr>
          <p:cNvPr id="7"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Walking in integrity and godliness</a:t>
            </a:r>
            <a:endParaRPr lang="en-US" sz="4000" dirty="0"/>
          </a:p>
        </p:txBody>
      </p:sp>
      <p:sp>
        <p:nvSpPr>
          <p:cNvPr id="4" name="Point row"/>
          <p:cNvSpPr/>
          <p:nvPr/>
        </p:nvSpPr>
        <p:spPr>
          <a:xfrm>
            <a:off x="548640" y="1600200"/>
            <a:ext cx="11064240" cy="1234440"/>
          </a:xfrm>
          <a:prstGeom prst="roundRect">
            <a:avLst>
              <a:gd name="adj" fmla="val 14815"/>
            </a:avLst>
          </a:prstGeom>
          <a:solidFill>
            <a:schemeClr val="bg2"/>
          </a:solidFill>
          <a:ln/>
        </p:spPr>
      </p:sp>
      <p:sp>
        <p:nvSpPr>
          <p:cNvPr id="5" name="Point icon"/>
          <p:cNvSpPr/>
          <p:nvPr/>
        </p:nvSpPr>
        <p:spPr>
          <a:xfrm>
            <a:off x="777240" y="1737360"/>
            <a:ext cx="960120" cy="960120"/>
          </a:xfrm>
          <a:prstGeom prst="ellipse">
            <a:avLst/>
          </a:prstGeom>
          <a:solidFill>
            <a:schemeClr val="accent2"/>
          </a:solidFill>
          <a:ln/>
        </p:spPr>
      </p:sp>
      <p:pic>
        <p:nvPicPr>
          <p:cNvPr id="6" name="Point icon glyph" descr="preencoded.png">    </p:cNvPr>
          <p:cNvPicPr>
            <a:picLocks noChangeAspect="1"/>
          </p:cNvPicPr>
          <p:nvPr/>
        </p:nvPicPr>
        <p:blipFill>
          <a:blip r:embed="rId1"/>
          <a:stretch>
            <a:fillRect/>
          </a:stretch>
        </p:blipFill>
        <p:spPr>
          <a:xfrm>
            <a:off x="1007669" y="1967789"/>
            <a:ext cx="499262" cy="499262"/>
          </a:xfrm>
          <a:prstGeom prst="rect">
            <a:avLst/>
          </a:prstGeom>
        </p:spPr>
      </p:pic>
      <p:sp>
        <p:nvSpPr>
          <p:cNvPr id="7" name="Text 3"/>
          <p:cNvSpPr txBox="1"/>
          <p:nvPr/>
        </p:nvSpPr>
        <p:spPr>
          <a:xfrm>
            <a:off x="2011680" y="1600200"/>
            <a:ext cx="9418320" cy="1234440"/>
          </a:xfrm>
          <a:prstGeom prst="rect">
            <a:avLst/>
          </a:prstGeom>
          <a:noFill/>
          <a:ln/>
        </p:spPr>
        <p:txBody>
          <a:bodyPr wrap="square" lIns="0" tIns="0" rIns="0" bIns="0" rtlCol="0" anchor="ctr"/>
          <a:lstStyle/>
          <a:p>
            <a:pPr indent="0" marL="0">
              <a:buNone/>
            </a:pPr>
            <a:r>
              <a:rPr lang="en-US" sz="3200" b="1" dirty="0">
                <a:solidFill>
                  <a:schemeClr val="tx2"/>
                </a:solidFill>
              </a:rPr>
              <a:t>The Bible says, </a:t>
            </a:r>
            <a:pPr indent="0" marL="0">
              <a:buNone/>
            </a:pPr>
            <a:r>
              <a:rPr lang="en-US" sz="3200" b="1" i="1" dirty="0">
                <a:solidFill>
                  <a:schemeClr val="tx2"/>
                </a:solidFill>
              </a:rPr>
              <a:t>“Train yourself to be godly.”</a:t>
            </a:r>
            <a:endParaRPr lang="en-US" sz="3200" dirty="0"/>
          </a:p>
        </p:txBody>
      </p:sp>
      <p:sp>
        <p:nvSpPr>
          <p:cNvPr id="8" name="Point row"/>
          <p:cNvSpPr/>
          <p:nvPr/>
        </p:nvSpPr>
        <p:spPr>
          <a:xfrm>
            <a:off x="548640" y="3063240"/>
            <a:ext cx="11064240" cy="1234440"/>
          </a:xfrm>
          <a:prstGeom prst="roundRect">
            <a:avLst>
              <a:gd name="adj" fmla="val 14815"/>
            </a:avLst>
          </a:prstGeom>
          <a:solidFill>
            <a:schemeClr val="bg2"/>
          </a:solidFill>
          <a:ln/>
        </p:spPr>
      </p:sp>
      <p:sp>
        <p:nvSpPr>
          <p:cNvPr id="9" name="Point icon"/>
          <p:cNvSpPr/>
          <p:nvPr/>
        </p:nvSpPr>
        <p:spPr>
          <a:xfrm>
            <a:off x="777240" y="3200400"/>
            <a:ext cx="960120" cy="960120"/>
          </a:xfrm>
          <a:prstGeom prst="ellipse">
            <a:avLst/>
          </a:prstGeom>
          <a:solidFill>
            <a:schemeClr val="accent2"/>
          </a:solidFill>
          <a:ln/>
        </p:spPr>
      </p:sp>
      <p:pic>
        <p:nvPicPr>
          <p:cNvPr id="10" name="Point icon glyph" descr="preencoded.png">    </p:cNvPr>
          <p:cNvPicPr>
            <a:picLocks noChangeAspect="1"/>
          </p:cNvPicPr>
          <p:nvPr/>
        </p:nvPicPr>
        <p:blipFill>
          <a:blip r:embed="rId2"/>
          <a:stretch>
            <a:fillRect/>
          </a:stretch>
        </p:blipFill>
        <p:spPr>
          <a:xfrm>
            <a:off x="1007669" y="3430829"/>
            <a:ext cx="499262" cy="499262"/>
          </a:xfrm>
          <a:prstGeom prst="rect">
            <a:avLst/>
          </a:prstGeom>
        </p:spPr>
      </p:pic>
      <p:sp>
        <p:nvSpPr>
          <p:cNvPr id="11" name="Text 6"/>
          <p:cNvSpPr txBox="1"/>
          <p:nvPr/>
        </p:nvSpPr>
        <p:spPr>
          <a:xfrm>
            <a:off x="2011680" y="3063240"/>
            <a:ext cx="9418320" cy="1234440"/>
          </a:xfrm>
          <a:prstGeom prst="rect">
            <a:avLst/>
          </a:prstGeom>
          <a:noFill/>
          <a:ln/>
        </p:spPr>
        <p:txBody>
          <a:bodyPr wrap="square" lIns="0" tIns="0" rIns="0" bIns="0" rtlCol="0" anchor="ctr"/>
          <a:lstStyle/>
          <a:p>
            <a:pPr indent="0" marL="0">
              <a:buNone/>
            </a:pPr>
            <a:r>
              <a:rPr lang="en-US" sz="3200" b="1" dirty="0">
                <a:solidFill>
                  <a:schemeClr val="tx2"/>
                </a:solidFill>
              </a:rPr>
              <a:t>To be godly means to live a God centered life</a:t>
            </a:r>
            <a:endParaRPr lang="en-US" sz="3200" dirty="0"/>
          </a:p>
        </p:txBody>
      </p:sp>
      <p:sp>
        <p:nvSpPr>
          <p:cNvPr id="12" name="Point row"/>
          <p:cNvSpPr/>
          <p:nvPr/>
        </p:nvSpPr>
        <p:spPr>
          <a:xfrm>
            <a:off x="548640" y="4526280"/>
            <a:ext cx="11064240" cy="1234440"/>
          </a:xfrm>
          <a:prstGeom prst="roundRect">
            <a:avLst>
              <a:gd name="adj" fmla="val 14815"/>
            </a:avLst>
          </a:prstGeom>
          <a:solidFill>
            <a:schemeClr val="bg2"/>
          </a:solidFill>
          <a:ln/>
        </p:spPr>
      </p:sp>
      <p:sp>
        <p:nvSpPr>
          <p:cNvPr id="13" name="Point icon"/>
          <p:cNvSpPr/>
          <p:nvPr/>
        </p:nvSpPr>
        <p:spPr>
          <a:xfrm>
            <a:off x="777240" y="4663440"/>
            <a:ext cx="960120" cy="960120"/>
          </a:xfrm>
          <a:prstGeom prst="ellipse">
            <a:avLst/>
          </a:prstGeom>
          <a:solidFill>
            <a:schemeClr val="accent2"/>
          </a:solidFill>
          <a:ln/>
        </p:spPr>
      </p:sp>
      <p:pic>
        <p:nvPicPr>
          <p:cNvPr id="14" name="Point icon glyph" descr="preencoded.png">    </p:cNvPr>
          <p:cNvPicPr>
            <a:picLocks noChangeAspect="1"/>
          </p:cNvPicPr>
          <p:nvPr/>
        </p:nvPicPr>
        <p:blipFill>
          <a:blip r:embed="rId3"/>
          <a:stretch>
            <a:fillRect/>
          </a:stretch>
        </p:blipFill>
        <p:spPr>
          <a:xfrm>
            <a:off x="1007669" y="4893869"/>
            <a:ext cx="499262" cy="499262"/>
          </a:xfrm>
          <a:prstGeom prst="rect">
            <a:avLst/>
          </a:prstGeom>
        </p:spPr>
      </p:pic>
      <p:sp>
        <p:nvSpPr>
          <p:cNvPr id="15" name="Text 9"/>
          <p:cNvSpPr txBox="1"/>
          <p:nvPr/>
        </p:nvSpPr>
        <p:spPr>
          <a:xfrm>
            <a:off x="2011680" y="4526280"/>
            <a:ext cx="9418320" cy="1234440"/>
          </a:xfrm>
          <a:prstGeom prst="rect">
            <a:avLst/>
          </a:prstGeom>
          <a:noFill/>
          <a:ln/>
        </p:spPr>
        <p:txBody>
          <a:bodyPr wrap="square" lIns="0" tIns="0" rIns="0" bIns="0" rtlCol="0" anchor="ctr"/>
          <a:lstStyle/>
          <a:p>
            <a:pPr indent="0" marL="0">
              <a:buNone/>
            </a:pPr>
            <a:r>
              <a:rPr lang="en-US" sz="3200" b="1" dirty="0">
                <a:solidFill>
                  <a:schemeClr val="tx2"/>
                </a:solidFill>
              </a:rPr>
              <a:t>Integrity is the quality of being upright morally</a:t>
            </a:r>
            <a:endParaRPr lang="en-US" sz="32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tatement icon"/>
          <p:cNvSpPr/>
          <p:nvPr/>
        </p:nvSpPr>
        <p:spPr>
          <a:xfrm>
            <a:off x="822960" y="1737360"/>
            <a:ext cx="3108960" cy="3108960"/>
          </a:xfrm>
          <a:prstGeom prst="ellipse">
            <a:avLst/>
          </a:prstGeom>
          <a:solidFill>
            <a:schemeClr val="accent4"/>
          </a:solidFill>
          <a:ln/>
        </p:spPr>
      </p:sp>
      <p:pic>
        <p:nvPicPr>
          <p:cNvPr id="4" name="Statement icon glyph" descr="preencoded.png">    </p:cNvPr>
          <p:cNvPicPr>
            <a:picLocks noChangeAspect="1"/>
          </p:cNvPicPr>
          <p:nvPr/>
        </p:nvPicPr>
        <p:blipFill>
          <a:blip r:embed="rId1"/>
          <a:stretch>
            <a:fillRect/>
          </a:stretch>
        </p:blipFill>
        <p:spPr>
          <a:xfrm>
            <a:off x="1569110" y="2483510"/>
            <a:ext cx="1616659" cy="1616659"/>
          </a:xfrm>
          <a:prstGeom prst="rect">
            <a:avLst/>
          </a:prstGeom>
        </p:spPr>
      </p:pic>
      <p:sp>
        <p:nvSpPr>
          <p:cNvPr id="5" name="Lead-in"/>
          <p:cNvSpPr txBox="1"/>
          <p:nvPr/>
        </p:nvSpPr>
        <p:spPr>
          <a:xfrm>
            <a:off x="4572000" y="1005840"/>
            <a:ext cx="6949440" cy="2194560"/>
          </a:xfrm>
          <a:prstGeom prst="rect">
            <a:avLst/>
          </a:prstGeom>
          <a:noFill/>
          <a:ln/>
        </p:spPr>
        <p:txBody>
          <a:bodyPr wrap="square" lIns="0" tIns="0" rIns="0" bIns="0" rtlCol="0" anchor="b"/>
          <a:lstStyle/>
          <a:p>
            <a:pPr indent="0" marL="0">
              <a:buNone/>
            </a:pPr>
            <a:r>
              <a:rPr lang="en-US" sz="4000" dirty="0">
                <a:solidFill>
                  <a:schemeClr val="tx2"/>
                </a:solidFill>
                <a:latin typeface="Cambria" pitchFamily="34" charset="0"/>
                <a:ea typeface="Cambria" pitchFamily="34" charset="-122"/>
                <a:cs typeface="Cambria" pitchFamily="34" charset="-120"/>
              </a:rPr>
              <a:t>To live in integrity means to live on what is right all the time.</a:t>
            </a:r>
            <a:endParaRPr lang="en-US" sz="4000" dirty="0"/>
          </a:p>
        </p:txBody>
      </p:sp>
      <p:sp>
        <p:nvSpPr>
          <p:cNvPr id="6" name="Key phrase"/>
          <p:cNvSpPr txBox="1"/>
          <p:nvPr/>
        </p:nvSpPr>
        <p:spPr>
          <a:xfrm>
            <a:off x="4572000" y="3383280"/>
            <a:ext cx="6949440" cy="2194560"/>
          </a:xfrm>
          <a:prstGeom prst="rect">
            <a:avLst/>
          </a:prstGeom>
          <a:noFill/>
          <a:ln/>
        </p:spPr>
        <p:txBody>
          <a:bodyPr wrap="square" lIns="0" tIns="0" rIns="0" bIns="0" rtlCol="0" anchor="t"/>
          <a:lstStyle/>
          <a:p>
            <a:pPr indent="0" marL="0">
              <a:buNone/>
            </a:pPr>
            <a:r>
              <a:rPr lang="en-US" sz="5800" b="1" u="sng" dirty="0">
                <a:solidFill>
                  <a:schemeClr val="accent4"/>
                </a:solidFill>
                <a:latin typeface="Cambria" pitchFamily="34" charset="0"/>
                <a:ea typeface="Cambria" pitchFamily="34" charset="-122"/>
                <a:cs typeface="Cambria" pitchFamily="34" charset="-120"/>
              </a:rPr>
              <a:t>No compromise</a:t>
            </a:r>
            <a:pPr indent="0" marL="0">
              <a:buNone/>
            </a:pPr>
            <a:r>
              <a:rPr lang="en-US" sz="5800" b="1" dirty="0">
                <a:solidFill>
                  <a:schemeClr val="accent4"/>
                </a:solidFill>
                <a:latin typeface="Cambria" pitchFamily="34" charset="0"/>
                <a:ea typeface="Cambria" pitchFamily="34" charset="-122"/>
                <a:cs typeface="Cambria" pitchFamily="34" charset="-120"/>
              </a:rPr>
              <a:t> with sin.</a:t>
            </a:r>
            <a:endParaRPr lang="en-US" sz="58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3"/>
                </a:solidFill>
                <a:latin typeface="Cambria" pitchFamily="34" charset="0"/>
                <a:ea typeface="Cambria" pitchFamily="34" charset="-122"/>
                <a:cs typeface="Cambria" pitchFamily="34" charset="-120"/>
              </a:rPr>
              <a:t>3.</a:t>
            </a:r>
            <a:endParaRPr lang="en-US" sz="25000" dirty="0"/>
          </a:p>
        </p:txBody>
      </p:sp>
      <p:sp>
        <p:nvSpPr>
          <p:cNvPr id="4" name="Section title"/>
          <p:cNvSpPr txBox="1"/>
          <p:nvPr/>
        </p:nvSpPr>
        <p:spPr>
          <a:xfrm>
            <a:off x="3749040" y="1737360"/>
            <a:ext cx="502920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Spirituality</a:t>
            </a:r>
            <a:endParaRPr lang="en-US" sz="6000" dirty="0"/>
          </a:p>
        </p:txBody>
      </p:sp>
      <p:sp>
        <p:nvSpPr>
          <p:cNvPr id="5" name="Section icon"/>
          <p:cNvSpPr/>
          <p:nvPr/>
        </p:nvSpPr>
        <p:spPr>
          <a:xfrm>
            <a:off x="8915400" y="1874520"/>
            <a:ext cx="2926080" cy="2926080"/>
          </a:xfrm>
          <a:prstGeom prst="ellipse">
            <a:avLst/>
          </a:prstGeom>
          <a:solidFill>
            <a:schemeClr val="accent3"/>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Quote mark"/>
          <p:cNvSpPr txBox="1"/>
          <p:nvPr/>
        </p:nvSpPr>
        <p:spPr>
          <a:xfrm>
            <a:off x="640080" y="228600"/>
            <a:ext cx="1463040" cy="1463040"/>
          </a:xfrm>
          <a:prstGeom prst="rect">
            <a:avLst/>
          </a:prstGeom>
          <a:noFill/>
          <a:ln/>
        </p:spPr>
        <p:txBody>
          <a:bodyPr wrap="square" lIns="0" tIns="0" rIns="0" bIns="0" rtlCol="0" anchor="ctr"/>
          <a:lstStyle/>
          <a:p>
            <a:pPr indent="0" marL="0">
              <a:buNone/>
            </a:pPr>
            <a:r>
              <a:rPr lang="en-US" sz="15000" b="1" dirty="0">
                <a:solidFill>
                  <a:schemeClr val="accent1"/>
                </a:solidFill>
                <a:latin typeface="Cambria" pitchFamily="34" charset="0"/>
                <a:ea typeface="Cambria" pitchFamily="34" charset="-122"/>
                <a:cs typeface="Cambria" pitchFamily="34" charset="-120"/>
              </a:rPr>
              <a:t>“</a:t>
            </a:r>
            <a:endParaRPr lang="en-US" sz="15000" dirty="0"/>
          </a:p>
        </p:txBody>
      </p:sp>
      <p:sp>
        <p:nvSpPr>
          <p:cNvPr id="4" name="Verse"/>
          <p:cNvSpPr txBox="1"/>
          <p:nvPr/>
        </p:nvSpPr>
        <p:spPr>
          <a:xfrm>
            <a:off x="822960" y="1463040"/>
            <a:ext cx="5852160" cy="3840480"/>
          </a:xfrm>
          <a:prstGeom prst="rect">
            <a:avLst/>
          </a:prstGeom>
          <a:noFill/>
          <a:ln/>
        </p:spPr>
        <p:txBody>
          <a:bodyPr wrap="square" lIns="0" tIns="0" rIns="0" bIns="0" rtlCol="0" anchor="ctr"/>
          <a:lstStyle/>
          <a:p>
            <a:pPr indent="0" marL="0">
              <a:lnSpc>
                <a:spcPct val="108000"/>
              </a:lnSpc>
              <a:buNone/>
            </a:pPr>
            <a:r>
              <a:rPr lang="en-US" sz="3800" dirty="0">
                <a:solidFill>
                  <a:schemeClr val="bg1"/>
                </a:solidFill>
                <a:latin typeface="Cambria" pitchFamily="34" charset="0"/>
                <a:ea typeface="Cambria" pitchFamily="34" charset="-122"/>
                <a:cs typeface="Cambria" pitchFamily="34" charset="-120"/>
              </a:rPr>
              <a:t>You are the light of the world—like a city on a mountain, glowing in the night for all to see.</a:t>
            </a:r>
            <a:endParaRPr lang="en-US" sz="3800" dirty="0"/>
          </a:p>
        </p:txBody>
      </p:sp>
      <p:sp>
        <p:nvSpPr>
          <p:cNvPr id="5" name="Reference"/>
          <p:cNvSpPr txBox="1"/>
          <p:nvPr/>
        </p:nvSpPr>
        <p:spPr>
          <a:xfrm>
            <a:off x="822960" y="5532120"/>
            <a:ext cx="5852160" cy="640080"/>
          </a:xfrm>
          <a:prstGeom prst="rect">
            <a:avLst/>
          </a:prstGeom>
          <a:noFill/>
          <a:ln/>
        </p:spPr>
        <p:txBody>
          <a:bodyPr wrap="square" lIns="0" tIns="0" rIns="0" bIns="0" rtlCol="0" anchor="ctr"/>
          <a:lstStyle/>
          <a:p>
            <a:pPr indent="0" marL="0">
              <a:buNone/>
            </a:pPr>
            <a:r>
              <a:rPr lang="en-US" sz="2800" b="1" dirty="0">
                <a:solidFill>
                  <a:schemeClr val="accent1"/>
                </a:solidFill>
              </a:rPr>
              <a:t>Matthew 5:14 (NLT)</a:t>
            </a:r>
            <a:endParaRPr lang="en-US" sz="2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tatement"/>
          <p:cNvSpPr txBox="1"/>
          <p:nvPr/>
        </p:nvSpPr>
        <p:spPr>
          <a:xfrm>
            <a:off x="548640" y="548640"/>
            <a:ext cx="11064240" cy="2377440"/>
          </a:xfrm>
          <a:prstGeom prst="rect">
            <a:avLst/>
          </a:prstGeom>
          <a:noFill/>
          <a:ln/>
        </p:spPr>
        <p:txBody>
          <a:bodyPr wrap="square" lIns="0" tIns="0" rIns="0" bIns="0" rtlCol="0" anchor="ctr"/>
          <a:lstStyle/>
          <a:p>
            <a:pPr algn="ctr" indent="0" marL="0">
              <a:buNone/>
            </a:pPr>
            <a:r>
              <a:rPr lang="en-US" sz="4400" b="1" dirty="0">
                <a:solidFill>
                  <a:schemeClr val="tx2"/>
                </a:solidFill>
                <a:latin typeface="Cambria" pitchFamily="34" charset="0"/>
                <a:ea typeface="Cambria" pitchFamily="34" charset="-122"/>
                <a:cs typeface="Cambria" pitchFamily="34" charset="-120"/>
              </a:rPr>
              <a:t>Sowing spirituality means you are bringing the presence of God into your home, school and workplace</a:t>
            </a:r>
            <a:endParaRPr lang="en-US" sz="4400" dirty="0"/>
          </a:p>
        </p:txBody>
      </p:sp>
      <p:sp>
        <p:nvSpPr>
          <p:cNvPr id="4" name="home icon"/>
          <p:cNvSpPr/>
          <p:nvPr/>
        </p:nvSpPr>
        <p:spPr>
          <a:xfrm>
            <a:off x="1828800" y="3429000"/>
            <a:ext cx="2011680" cy="2011680"/>
          </a:xfrm>
          <a:prstGeom prst="ellipse">
            <a:avLst/>
          </a:prstGeom>
          <a:solidFill>
            <a:schemeClr val="accent3"/>
          </a:solidFill>
          <a:ln/>
        </p:spPr>
      </p:sp>
      <p:pic>
        <p:nvPicPr>
          <p:cNvPr id="5" name="home icon glyph" descr="preencoded.png">    </p:cNvPr>
          <p:cNvPicPr>
            <a:picLocks noChangeAspect="1"/>
          </p:cNvPicPr>
          <p:nvPr/>
        </p:nvPicPr>
        <p:blipFill>
          <a:blip r:embed="rId1"/>
          <a:stretch>
            <a:fillRect/>
          </a:stretch>
        </p:blipFill>
        <p:spPr>
          <a:xfrm>
            <a:off x="2311603" y="3911803"/>
            <a:ext cx="1046074" cy="1046074"/>
          </a:xfrm>
          <a:prstGeom prst="rect">
            <a:avLst/>
          </a:prstGeom>
        </p:spPr>
      </p:pic>
      <p:sp>
        <p:nvSpPr>
          <p:cNvPr id="6" name="school icon"/>
          <p:cNvSpPr/>
          <p:nvPr/>
        </p:nvSpPr>
        <p:spPr>
          <a:xfrm>
            <a:off x="5120640" y="3429000"/>
            <a:ext cx="2011680" cy="2011680"/>
          </a:xfrm>
          <a:prstGeom prst="ellipse">
            <a:avLst/>
          </a:prstGeom>
          <a:solidFill>
            <a:schemeClr val="accent3"/>
          </a:solidFill>
          <a:ln/>
        </p:spPr>
      </p:sp>
      <p:pic>
        <p:nvPicPr>
          <p:cNvPr id="7" name="school icon glyph" descr="preencoded.png">    </p:cNvPr>
          <p:cNvPicPr>
            <a:picLocks noChangeAspect="1"/>
          </p:cNvPicPr>
          <p:nvPr/>
        </p:nvPicPr>
        <p:blipFill>
          <a:blip r:embed="rId2"/>
          <a:stretch>
            <a:fillRect/>
          </a:stretch>
        </p:blipFill>
        <p:spPr>
          <a:xfrm>
            <a:off x="5603443" y="3911803"/>
            <a:ext cx="1046074" cy="1046074"/>
          </a:xfrm>
          <a:prstGeom prst="rect">
            <a:avLst/>
          </a:prstGeom>
        </p:spPr>
      </p:pic>
      <p:sp>
        <p:nvSpPr>
          <p:cNvPr id="8" name="work icon"/>
          <p:cNvSpPr/>
          <p:nvPr/>
        </p:nvSpPr>
        <p:spPr>
          <a:xfrm>
            <a:off x="8412480" y="3429000"/>
            <a:ext cx="2011680" cy="2011680"/>
          </a:xfrm>
          <a:prstGeom prst="ellipse">
            <a:avLst/>
          </a:prstGeom>
          <a:solidFill>
            <a:schemeClr val="accent3"/>
          </a:solidFill>
          <a:ln/>
        </p:spPr>
      </p:sp>
      <p:pic>
        <p:nvPicPr>
          <p:cNvPr id="9" name="work icon glyph" descr="preencoded.png">    </p:cNvPr>
          <p:cNvPicPr>
            <a:picLocks noChangeAspect="1"/>
          </p:cNvPicPr>
          <p:nvPr/>
        </p:nvPicPr>
        <p:blipFill>
          <a:blip r:embed="rId3"/>
          <a:stretch>
            <a:fillRect/>
          </a:stretch>
        </p:blipFill>
        <p:spPr>
          <a:xfrm>
            <a:off x="8895283" y="3911803"/>
            <a:ext cx="1046074" cy="1046074"/>
          </a:xfrm>
          <a:prstGeom prst="rect">
            <a:avLst/>
          </a:prstGeom>
        </p:spPr>
      </p:pic>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How to sow spirituality?</a:t>
            </a:r>
            <a:endParaRPr lang="en-US" sz="4000" dirty="0"/>
          </a:p>
        </p:txBody>
      </p:sp>
      <p:sp>
        <p:nvSpPr>
          <p:cNvPr id="4" name="I card"/>
          <p:cNvSpPr/>
          <p:nvPr/>
        </p:nvSpPr>
        <p:spPr>
          <a:xfrm>
            <a:off x="548640" y="1554480"/>
            <a:ext cx="5394960" cy="2057400"/>
          </a:xfrm>
          <a:prstGeom prst="roundRect">
            <a:avLst>
              <a:gd name="adj" fmla="val 8889"/>
            </a:avLst>
          </a:prstGeom>
          <a:solidFill>
            <a:schemeClr val="bg2"/>
          </a:solidFill>
          <a:ln/>
          <a:effectLst>
            <a:outerShdw sx="100000" sy="100000" kx="0" ky="0" algn="bl" rotWithShape="0" blurRad="127000" dist="38100" dir="5400000">
              <a:srgbClr val="1E4D2B">
                <a:alpha val="18000"/>
              </a:srgbClr>
            </a:outerShdw>
          </a:effectLst>
        </p:spPr>
      </p:sp>
      <p:sp>
        <p:nvSpPr>
          <p:cNvPr id="5" name="I icon"/>
          <p:cNvSpPr/>
          <p:nvPr/>
        </p:nvSpPr>
        <p:spPr>
          <a:xfrm>
            <a:off x="868680" y="1920240"/>
            <a:ext cx="1325880" cy="1325880"/>
          </a:xfrm>
          <a:prstGeom prst="ellipse">
            <a:avLst/>
          </a:prstGeom>
          <a:solidFill>
            <a:schemeClr val="accent3"/>
          </a:solidFill>
          <a:ln/>
        </p:spPr>
      </p:sp>
      <p:pic>
        <p:nvPicPr>
          <p:cNvPr id="6" name="I icon glyph" descr="preencoded.png">    </p:cNvPr>
          <p:cNvPicPr>
            <a:picLocks noChangeAspect="1"/>
          </p:cNvPicPr>
          <p:nvPr/>
        </p:nvPicPr>
        <p:blipFill>
          <a:blip r:embed="rId1"/>
          <a:stretch>
            <a:fillRect/>
          </a:stretch>
        </p:blipFill>
        <p:spPr>
          <a:xfrm>
            <a:off x="1186891" y="2238451"/>
            <a:ext cx="689458" cy="689458"/>
          </a:xfrm>
          <a:prstGeom prst="rect">
            <a:avLst/>
          </a:prstGeom>
        </p:spPr>
      </p:pic>
      <p:sp>
        <p:nvSpPr>
          <p:cNvPr id="7" name="Text 3"/>
          <p:cNvSpPr txBox="1"/>
          <p:nvPr/>
        </p:nvSpPr>
        <p:spPr>
          <a:xfrm>
            <a:off x="2468880" y="1691640"/>
            <a:ext cx="3291840" cy="1783080"/>
          </a:xfrm>
          <a:prstGeom prst="rect">
            <a:avLst/>
          </a:prstGeom>
          <a:noFill/>
          <a:ln/>
        </p:spPr>
        <p:txBody>
          <a:bodyPr wrap="square" lIns="0" tIns="0" rIns="0" bIns="0" rtlCol="0" anchor="ctr"/>
          <a:lstStyle/>
          <a:p>
            <a:pPr indent="0" marL="0">
              <a:buNone/>
            </a:pPr>
            <a:r>
              <a:rPr lang="en-US" sz="2800" b="1" dirty="0">
                <a:solidFill>
                  <a:schemeClr val="accent3"/>
                </a:solidFill>
              </a:rPr>
              <a:t>I. </a:t>
            </a:r>
            <a:pPr indent="0" marL="0">
              <a:buNone/>
            </a:pPr>
            <a:r>
              <a:rPr lang="en-US" sz="2800" b="1" dirty="0">
                <a:solidFill>
                  <a:schemeClr val="tx2"/>
                </a:solidFill>
              </a:rPr>
              <a:t>Manifest the Christ-like character</a:t>
            </a:r>
            <a:endParaRPr lang="en-US" sz="2800" dirty="0"/>
          </a:p>
        </p:txBody>
      </p:sp>
      <p:sp>
        <p:nvSpPr>
          <p:cNvPr id="8" name="II card"/>
          <p:cNvSpPr/>
          <p:nvPr/>
        </p:nvSpPr>
        <p:spPr>
          <a:xfrm>
            <a:off x="6217920" y="1554480"/>
            <a:ext cx="5394960" cy="2057400"/>
          </a:xfrm>
          <a:prstGeom prst="roundRect">
            <a:avLst>
              <a:gd name="adj" fmla="val 8889"/>
            </a:avLst>
          </a:prstGeom>
          <a:solidFill>
            <a:schemeClr val="bg2"/>
          </a:solidFill>
          <a:ln/>
          <a:effectLst>
            <a:outerShdw sx="100000" sy="100000" kx="0" ky="0" algn="bl" rotWithShape="0" blurRad="127000" dist="38100" dir="5400000">
              <a:srgbClr val="1E4D2B">
                <a:alpha val="18000"/>
              </a:srgbClr>
            </a:outerShdw>
          </a:effectLst>
        </p:spPr>
      </p:sp>
      <p:sp>
        <p:nvSpPr>
          <p:cNvPr id="9" name="II icon"/>
          <p:cNvSpPr/>
          <p:nvPr/>
        </p:nvSpPr>
        <p:spPr>
          <a:xfrm>
            <a:off x="6537960" y="1920240"/>
            <a:ext cx="1325880" cy="1325880"/>
          </a:xfrm>
          <a:prstGeom prst="ellipse">
            <a:avLst/>
          </a:prstGeom>
          <a:solidFill>
            <a:schemeClr val="accent3"/>
          </a:solidFill>
          <a:ln/>
        </p:spPr>
      </p:sp>
      <p:pic>
        <p:nvPicPr>
          <p:cNvPr id="10" name="II icon glyph" descr="preencoded.png">    </p:cNvPr>
          <p:cNvPicPr>
            <a:picLocks noChangeAspect="1"/>
          </p:cNvPicPr>
          <p:nvPr/>
        </p:nvPicPr>
        <p:blipFill>
          <a:blip r:embed="rId2"/>
          <a:stretch>
            <a:fillRect/>
          </a:stretch>
        </p:blipFill>
        <p:spPr>
          <a:xfrm>
            <a:off x="6856171" y="2238451"/>
            <a:ext cx="689458" cy="689458"/>
          </a:xfrm>
          <a:prstGeom prst="rect">
            <a:avLst/>
          </a:prstGeom>
        </p:spPr>
      </p:pic>
      <p:sp>
        <p:nvSpPr>
          <p:cNvPr id="11" name="Text 6"/>
          <p:cNvSpPr txBox="1"/>
          <p:nvPr/>
        </p:nvSpPr>
        <p:spPr>
          <a:xfrm>
            <a:off x="8138160" y="1691640"/>
            <a:ext cx="3291840" cy="1783080"/>
          </a:xfrm>
          <a:prstGeom prst="rect">
            <a:avLst/>
          </a:prstGeom>
          <a:noFill/>
          <a:ln/>
        </p:spPr>
        <p:txBody>
          <a:bodyPr wrap="square" lIns="0" tIns="0" rIns="0" bIns="0" rtlCol="0" anchor="ctr"/>
          <a:lstStyle/>
          <a:p>
            <a:pPr indent="0" marL="0">
              <a:buNone/>
            </a:pPr>
            <a:r>
              <a:rPr lang="en-US" sz="2800" b="1" dirty="0">
                <a:solidFill>
                  <a:schemeClr val="accent3"/>
                </a:solidFill>
              </a:rPr>
              <a:t>II. </a:t>
            </a:r>
            <a:pPr indent="0" marL="0">
              <a:buNone/>
            </a:pPr>
            <a:r>
              <a:rPr lang="en-US" sz="2800" b="1" dirty="0">
                <a:solidFill>
                  <a:schemeClr val="tx2"/>
                </a:solidFill>
              </a:rPr>
              <a:t>Bring prayer</a:t>
            </a:r>
            <a:endParaRPr lang="en-US" sz="2800" dirty="0"/>
          </a:p>
        </p:txBody>
      </p:sp>
      <p:sp>
        <p:nvSpPr>
          <p:cNvPr id="12" name="III card"/>
          <p:cNvSpPr/>
          <p:nvPr/>
        </p:nvSpPr>
        <p:spPr>
          <a:xfrm>
            <a:off x="548640" y="3840480"/>
            <a:ext cx="5394960" cy="2057400"/>
          </a:xfrm>
          <a:prstGeom prst="roundRect">
            <a:avLst>
              <a:gd name="adj" fmla="val 8889"/>
            </a:avLst>
          </a:prstGeom>
          <a:solidFill>
            <a:schemeClr val="bg2"/>
          </a:solidFill>
          <a:ln/>
          <a:effectLst>
            <a:outerShdw sx="100000" sy="100000" kx="0" ky="0" algn="bl" rotWithShape="0" blurRad="127000" dist="38100" dir="5400000">
              <a:srgbClr val="1E4D2B">
                <a:alpha val="18000"/>
              </a:srgbClr>
            </a:outerShdw>
          </a:effectLst>
        </p:spPr>
      </p:sp>
      <p:sp>
        <p:nvSpPr>
          <p:cNvPr id="13" name="III icon"/>
          <p:cNvSpPr/>
          <p:nvPr/>
        </p:nvSpPr>
        <p:spPr>
          <a:xfrm>
            <a:off x="868680" y="4206240"/>
            <a:ext cx="1325880" cy="1325880"/>
          </a:xfrm>
          <a:prstGeom prst="ellipse">
            <a:avLst/>
          </a:prstGeom>
          <a:solidFill>
            <a:schemeClr val="accent3"/>
          </a:solidFill>
          <a:ln/>
        </p:spPr>
      </p:sp>
      <p:pic>
        <p:nvPicPr>
          <p:cNvPr id="14" name="III icon glyph" descr="preencoded.png">    </p:cNvPr>
          <p:cNvPicPr>
            <a:picLocks noChangeAspect="1"/>
          </p:cNvPicPr>
          <p:nvPr/>
        </p:nvPicPr>
        <p:blipFill>
          <a:blip r:embed="rId3"/>
          <a:stretch>
            <a:fillRect/>
          </a:stretch>
        </p:blipFill>
        <p:spPr>
          <a:xfrm>
            <a:off x="1186891" y="4524451"/>
            <a:ext cx="689458" cy="689458"/>
          </a:xfrm>
          <a:prstGeom prst="rect">
            <a:avLst/>
          </a:prstGeom>
        </p:spPr>
      </p:pic>
      <p:sp>
        <p:nvSpPr>
          <p:cNvPr id="15" name="Text 9"/>
          <p:cNvSpPr txBox="1"/>
          <p:nvPr/>
        </p:nvSpPr>
        <p:spPr>
          <a:xfrm>
            <a:off x="2468880" y="3977640"/>
            <a:ext cx="3291840" cy="1783080"/>
          </a:xfrm>
          <a:prstGeom prst="rect">
            <a:avLst/>
          </a:prstGeom>
          <a:noFill/>
          <a:ln/>
        </p:spPr>
        <p:txBody>
          <a:bodyPr wrap="square" lIns="0" tIns="0" rIns="0" bIns="0" rtlCol="0" anchor="ctr"/>
          <a:lstStyle/>
          <a:p>
            <a:pPr indent="0" marL="0">
              <a:buNone/>
            </a:pPr>
            <a:r>
              <a:rPr lang="en-US" sz="2800" b="1" dirty="0">
                <a:solidFill>
                  <a:schemeClr val="accent3"/>
                </a:solidFill>
              </a:rPr>
              <a:t>III. </a:t>
            </a:r>
            <a:pPr indent="0" marL="0">
              <a:buNone/>
            </a:pPr>
            <a:r>
              <a:rPr lang="en-US" sz="2800" b="1" dirty="0">
                <a:solidFill>
                  <a:schemeClr val="tx2"/>
                </a:solidFill>
              </a:rPr>
              <a:t>Bring the Word of God</a:t>
            </a:r>
            <a:endParaRPr lang="en-US" sz="2800" dirty="0"/>
          </a:p>
        </p:txBody>
      </p:sp>
      <p:sp>
        <p:nvSpPr>
          <p:cNvPr id="16" name="IV card"/>
          <p:cNvSpPr/>
          <p:nvPr/>
        </p:nvSpPr>
        <p:spPr>
          <a:xfrm>
            <a:off x="6217920" y="3840480"/>
            <a:ext cx="5394960" cy="2057400"/>
          </a:xfrm>
          <a:prstGeom prst="roundRect">
            <a:avLst>
              <a:gd name="adj" fmla="val 8889"/>
            </a:avLst>
          </a:prstGeom>
          <a:solidFill>
            <a:schemeClr val="bg2"/>
          </a:solidFill>
          <a:ln/>
          <a:effectLst>
            <a:outerShdw sx="100000" sy="100000" kx="0" ky="0" algn="bl" rotWithShape="0" blurRad="127000" dist="38100" dir="5400000">
              <a:srgbClr val="1E4D2B">
                <a:alpha val="18000"/>
              </a:srgbClr>
            </a:outerShdw>
          </a:effectLst>
        </p:spPr>
      </p:sp>
      <p:sp>
        <p:nvSpPr>
          <p:cNvPr id="17" name="IV icon"/>
          <p:cNvSpPr/>
          <p:nvPr/>
        </p:nvSpPr>
        <p:spPr>
          <a:xfrm>
            <a:off x="6537960" y="4206240"/>
            <a:ext cx="1325880" cy="1325880"/>
          </a:xfrm>
          <a:prstGeom prst="ellipse">
            <a:avLst/>
          </a:prstGeom>
          <a:solidFill>
            <a:schemeClr val="accent3"/>
          </a:solidFill>
          <a:ln/>
        </p:spPr>
      </p:sp>
      <p:pic>
        <p:nvPicPr>
          <p:cNvPr id="18" name="IV icon glyph" descr="preencoded.png">    </p:cNvPr>
          <p:cNvPicPr>
            <a:picLocks noChangeAspect="1"/>
          </p:cNvPicPr>
          <p:nvPr/>
        </p:nvPicPr>
        <p:blipFill>
          <a:blip r:embed="rId4"/>
          <a:stretch>
            <a:fillRect/>
          </a:stretch>
        </p:blipFill>
        <p:spPr>
          <a:xfrm>
            <a:off x="6856171" y="4524451"/>
            <a:ext cx="689458" cy="689458"/>
          </a:xfrm>
          <a:prstGeom prst="rect">
            <a:avLst/>
          </a:prstGeom>
        </p:spPr>
      </p:pic>
      <p:sp>
        <p:nvSpPr>
          <p:cNvPr id="19" name="Text 12"/>
          <p:cNvSpPr txBox="1"/>
          <p:nvPr/>
        </p:nvSpPr>
        <p:spPr>
          <a:xfrm>
            <a:off x="8138160" y="3977640"/>
            <a:ext cx="3291840" cy="1783080"/>
          </a:xfrm>
          <a:prstGeom prst="rect">
            <a:avLst/>
          </a:prstGeom>
          <a:noFill/>
          <a:ln/>
        </p:spPr>
        <p:txBody>
          <a:bodyPr wrap="square" lIns="0" tIns="0" rIns="0" bIns="0" rtlCol="0" anchor="ctr"/>
          <a:lstStyle/>
          <a:p>
            <a:pPr indent="0" marL="0">
              <a:buNone/>
            </a:pPr>
            <a:r>
              <a:rPr lang="en-US" sz="2800" b="1" dirty="0">
                <a:solidFill>
                  <a:schemeClr val="accent3"/>
                </a:solidFill>
              </a:rPr>
              <a:t>IV. </a:t>
            </a:r>
            <a:pPr indent="0" marL="0">
              <a:buNone/>
            </a:pPr>
            <a:r>
              <a:rPr lang="en-US" sz="2800" b="1" dirty="0">
                <a:solidFill>
                  <a:schemeClr val="tx2"/>
                </a:solidFill>
              </a:rPr>
              <a:t>Bring the cell group into your home, schools, and workplace</a:t>
            </a:r>
            <a:endParaRPr lang="en-US" sz="28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4"/>
                </a:solidFill>
                <a:latin typeface="Cambria" pitchFamily="34" charset="0"/>
                <a:ea typeface="Cambria" pitchFamily="34" charset="-122"/>
                <a:cs typeface="Cambria" pitchFamily="34" charset="-120"/>
              </a:rPr>
              <a:t>4.</a:t>
            </a:r>
            <a:endParaRPr lang="en-US" sz="25000" dirty="0"/>
          </a:p>
        </p:txBody>
      </p:sp>
      <p:sp>
        <p:nvSpPr>
          <p:cNvPr id="4" name="Section title"/>
          <p:cNvSpPr txBox="1"/>
          <p:nvPr/>
        </p:nvSpPr>
        <p:spPr>
          <a:xfrm>
            <a:off x="3749040" y="1737360"/>
            <a:ext cx="502920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Discipline</a:t>
            </a:r>
            <a:endParaRPr lang="en-US" sz="6000" dirty="0"/>
          </a:p>
        </p:txBody>
      </p:sp>
      <p:sp>
        <p:nvSpPr>
          <p:cNvPr id="5" name="Section icon"/>
          <p:cNvSpPr/>
          <p:nvPr/>
        </p:nvSpPr>
        <p:spPr>
          <a:xfrm>
            <a:off x="8915400" y="1874520"/>
            <a:ext cx="2926080" cy="2926080"/>
          </a:xfrm>
          <a:prstGeom prst="ellipse">
            <a:avLst/>
          </a:prstGeom>
          <a:solidFill>
            <a:schemeClr val="accent4"/>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Statement icon"/>
          <p:cNvSpPr/>
          <p:nvPr/>
        </p:nvSpPr>
        <p:spPr>
          <a:xfrm>
            <a:off x="822960" y="1737360"/>
            <a:ext cx="3108960" cy="3108960"/>
          </a:xfrm>
          <a:prstGeom prst="ellipse">
            <a:avLst/>
          </a:prstGeom>
          <a:solidFill>
            <a:schemeClr val="accent4"/>
          </a:solidFill>
          <a:ln/>
        </p:spPr>
      </p:sp>
      <p:pic>
        <p:nvPicPr>
          <p:cNvPr id="4" name="Statement icon glyph" descr="preencoded.png">    </p:cNvPr>
          <p:cNvPicPr>
            <a:picLocks noChangeAspect="1"/>
          </p:cNvPicPr>
          <p:nvPr/>
        </p:nvPicPr>
        <p:blipFill>
          <a:blip r:embed="rId1"/>
          <a:stretch>
            <a:fillRect/>
          </a:stretch>
        </p:blipFill>
        <p:spPr>
          <a:xfrm>
            <a:off x="1569110" y="2483510"/>
            <a:ext cx="1616659" cy="1616659"/>
          </a:xfrm>
          <a:prstGeom prst="rect">
            <a:avLst/>
          </a:prstGeom>
        </p:spPr>
      </p:pic>
      <p:sp>
        <p:nvSpPr>
          <p:cNvPr id="5" name="Lead-in"/>
          <p:cNvSpPr txBox="1"/>
          <p:nvPr/>
        </p:nvSpPr>
        <p:spPr>
          <a:xfrm>
            <a:off x="4572000" y="1188720"/>
            <a:ext cx="6949440" cy="1828800"/>
          </a:xfrm>
          <a:prstGeom prst="rect">
            <a:avLst/>
          </a:prstGeom>
          <a:noFill/>
          <a:ln/>
        </p:spPr>
        <p:txBody>
          <a:bodyPr wrap="square" lIns="0" tIns="0" rIns="0" bIns="0" rtlCol="0" anchor="b"/>
          <a:lstStyle/>
          <a:p>
            <a:pPr indent="0" marL="0">
              <a:buNone/>
            </a:pPr>
            <a:r>
              <a:rPr lang="en-US" sz="4000" dirty="0">
                <a:solidFill>
                  <a:schemeClr val="tx2"/>
                </a:solidFill>
                <a:latin typeface="Cambria" pitchFamily="34" charset="0"/>
                <a:ea typeface="Cambria" pitchFamily="34" charset="-122"/>
                <a:cs typeface="Cambria" pitchFamily="34" charset="-120"/>
              </a:rPr>
              <a:t>Discipline is</a:t>
            </a:r>
            <a:endParaRPr lang="en-US" sz="4000" dirty="0"/>
          </a:p>
        </p:txBody>
      </p:sp>
      <p:sp>
        <p:nvSpPr>
          <p:cNvPr id="6" name="Key phrase"/>
          <p:cNvSpPr txBox="1"/>
          <p:nvPr/>
        </p:nvSpPr>
        <p:spPr>
          <a:xfrm>
            <a:off x="4572000" y="3200400"/>
            <a:ext cx="6949440" cy="2377440"/>
          </a:xfrm>
          <a:prstGeom prst="rect">
            <a:avLst/>
          </a:prstGeom>
          <a:noFill/>
          <a:ln/>
        </p:spPr>
        <p:txBody>
          <a:bodyPr wrap="square" lIns="0" tIns="0" rIns="0" bIns="0" rtlCol="0" anchor="t"/>
          <a:lstStyle/>
          <a:p>
            <a:pPr indent="0" marL="0">
              <a:buNone/>
            </a:pPr>
            <a:r>
              <a:rPr lang="en-US" sz="6600" b="1" dirty="0">
                <a:solidFill>
                  <a:schemeClr val="accent4"/>
                </a:solidFill>
                <a:latin typeface="Cambria" pitchFamily="34" charset="0"/>
                <a:ea typeface="Cambria" pitchFamily="34" charset="-122"/>
                <a:cs typeface="Cambria" pitchFamily="34" charset="-120"/>
              </a:rPr>
              <a:t>self control</a:t>
            </a:r>
            <a:endParaRPr lang="en-US" sz="6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Discipline means:</a:t>
            </a:r>
            <a:endParaRPr lang="en-US" sz="4000" dirty="0"/>
          </a:p>
        </p:txBody>
      </p:sp>
      <p:sp>
        <p:nvSpPr>
          <p:cNvPr id="4" name="Point row"/>
          <p:cNvSpPr/>
          <p:nvPr/>
        </p:nvSpPr>
        <p:spPr>
          <a:xfrm>
            <a:off x="548640" y="1600200"/>
            <a:ext cx="11064240" cy="1234440"/>
          </a:xfrm>
          <a:prstGeom prst="roundRect">
            <a:avLst>
              <a:gd name="adj" fmla="val 14815"/>
            </a:avLst>
          </a:prstGeom>
          <a:solidFill>
            <a:schemeClr val="bg2"/>
          </a:solidFill>
          <a:ln/>
        </p:spPr>
      </p:sp>
      <p:sp>
        <p:nvSpPr>
          <p:cNvPr id="5" name="Point icon"/>
          <p:cNvSpPr/>
          <p:nvPr/>
        </p:nvSpPr>
        <p:spPr>
          <a:xfrm>
            <a:off x="777240" y="1737360"/>
            <a:ext cx="960120" cy="960120"/>
          </a:xfrm>
          <a:prstGeom prst="ellipse">
            <a:avLst/>
          </a:prstGeom>
          <a:solidFill>
            <a:schemeClr val="accent4"/>
          </a:solidFill>
          <a:ln/>
        </p:spPr>
      </p:sp>
      <p:pic>
        <p:nvPicPr>
          <p:cNvPr id="6" name="Point icon glyph" descr="preencoded.png">    </p:cNvPr>
          <p:cNvPicPr>
            <a:picLocks noChangeAspect="1"/>
          </p:cNvPicPr>
          <p:nvPr/>
        </p:nvPicPr>
        <p:blipFill>
          <a:blip r:embed="rId1"/>
          <a:stretch>
            <a:fillRect/>
          </a:stretch>
        </p:blipFill>
        <p:spPr>
          <a:xfrm>
            <a:off x="1007669" y="1967789"/>
            <a:ext cx="499262" cy="499262"/>
          </a:xfrm>
          <a:prstGeom prst="rect">
            <a:avLst/>
          </a:prstGeom>
        </p:spPr>
      </p:pic>
      <p:sp>
        <p:nvSpPr>
          <p:cNvPr id="7" name="Text 3"/>
          <p:cNvSpPr txBox="1"/>
          <p:nvPr/>
        </p:nvSpPr>
        <p:spPr>
          <a:xfrm>
            <a:off x="2011680" y="1600200"/>
            <a:ext cx="9418320" cy="1234440"/>
          </a:xfrm>
          <a:prstGeom prst="rect">
            <a:avLst/>
          </a:prstGeom>
          <a:noFill/>
          <a:ln/>
        </p:spPr>
        <p:txBody>
          <a:bodyPr wrap="square" lIns="0" tIns="0" rIns="0" bIns="0" rtlCol="0" anchor="ctr"/>
          <a:lstStyle/>
          <a:p>
            <a:pPr indent="0" marL="0">
              <a:buNone/>
            </a:pPr>
            <a:r>
              <a:rPr lang="en-US" sz="3400" b="1" dirty="0">
                <a:solidFill>
                  <a:schemeClr val="tx2"/>
                </a:solidFill>
              </a:rPr>
              <a:t>Self control; not impulsive and uncontrolled</a:t>
            </a:r>
            <a:endParaRPr lang="en-US" sz="3400" dirty="0"/>
          </a:p>
        </p:txBody>
      </p:sp>
      <p:sp>
        <p:nvSpPr>
          <p:cNvPr id="8" name="Point row"/>
          <p:cNvSpPr/>
          <p:nvPr/>
        </p:nvSpPr>
        <p:spPr>
          <a:xfrm>
            <a:off x="548640" y="3063240"/>
            <a:ext cx="11064240" cy="1234440"/>
          </a:xfrm>
          <a:prstGeom prst="roundRect">
            <a:avLst>
              <a:gd name="adj" fmla="val 14815"/>
            </a:avLst>
          </a:prstGeom>
          <a:solidFill>
            <a:schemeClr val="bg2"/>
          </a:solidFill>
          <a:ln/>
        </p:spPr>
      </p:sp>
      <p:sp>
        <p:nvSpPr>
          <p:cNvPr id="9" name="Point icon"/>
          <p:cNvSpPr/>
          <p:nvPr/>
        </p:nvSpPr>
        <p:spPr>
          <a:xfrm>
            <a:off x="777240" y="3200400"/>
            <a:ext cx="960120" cy="960120"/>
          </a:xfrm>
          <a:prstGeom prst="ellipse">
            <a:avLst/>
          </a:prstGeom>
          <a:solidFill>
            <a:schemeClr val="accent4"/>
          </a:solidFill>
          <a:ln/>
        </p:spPr>
      </p:sp>
      <p:pic>
        <p:nvPicPr>
          <p:cNvPr id="10" name="Point icon glyph" descr="preencoded.png">    </p:cNvPr>
          <p:cNvPicPr>
            <a:picLocks noChangeAspect="1"/>
          </p:cNvPicPr>
          <p:nvPr/>
        </p:nvPicPr>
        <p:blipFill>
          <a:blip r:embed="rId2"/>
          <a:stretch>
            <a:fillRect/>
          </a:stretch>
        </p:blipFill>
        <p:spPr>
          <a:xfrm>
            <a:off x="1007669" y="3430829"/>
            <a:ext cx="499262" cy="499262"/>
          </a:xfrm>
          <a:prstGeom prst="rect">
            <a:avLst/>
          </a:prstGeom>
        </p:spPr>
      </p:pic>
      <p:sp>
        <p:nvSpPr>
          <p:cNvPr id="11" name="Text 6"/>
          <p:cNvSpPr txBox="1"/>
          <p:nvPr/>
        </p:nvSpPr>
        <p:spPr>
          <a:xfrm>
            <a:off x="2011680" y="3063240"/>
            <a:ext cx="9418320" cy="1234440"/>
          </a:xfrm>
          <a:prstGeom prst="rect">
            <a:avLst/>
          </a:prstGeom>
          <a:noFill/>
          <a:ln/>
        </p:spPr>
        <p:txBody>
          <a:bodyPr wrap="square" lIns="0" tIns="0" rIns="0" bIns="0" rtlCol="0" anchor="ctr"/>
          <a:lstStyle/>
          <a:p>
            <a:pPr indent="0" marL="0">
              <a:buNone/>
            </a:pPr>
            <a:r>
              <a:rPr lang="en-US" sz="3400" b="1" dirty="0">
                <a:solidFill>
                  <a:schemeClr val="tx2"/>
                </a:solidFill>
              </a:rPr>
              <a:t>Order and proper management</a:t>
            </a:r>
            <a:endParaRPr lang="en-US" sz="3400" dirty="0"/>
          </a:p>
        </p:txBody>
      </p:sp>
      <p:sp>
        <p:nvSpPr>
          <p:cNvPr id="12" name="Point row"/>
          <p:cNvSpPr/>
          <p:nvPr/>
        </p:nvSpPr>
        <p:spPr>
          <a:xfrm>
            <a:off x="548640" y="4526280"/>
            <a:ext cx="11064240" cy="1234440"/>
          </a:xfrm>
          <a:prstGeom prst="roundRect">
            <a:avLst>
              <a:gd name="adj" fmla="val 14815"/>
            </a:avLst>
          </a:prstGeom>
          <a:solidFill>
            <a:schemeClr val="bg2"/>
          </a:solidFill>
          <a:ln/>
        </p:spPr>
      </p:sp>
      <p:sp>
        <p:nvSpPr>
          <p:cNvPr id="13" name="Point icon"/>
          <p:cNvSpPr/>
          <p:nvPr/>
        </p:nvSpPr>
        <p:spPr>
          <a:xfrm>
            <a:off x="777240" y="4663440"/>
            <a:ext cx="960120" cy="960120"/>
          </a:xfrm>
          <a:prstGeom prst="ellipse">
            <a:avLst/>
          </a:prstGeom>
          <a:solidFill>
            <a:schemeClr val="accent4"/>
          </a:solidFill>
          <a:ln/>
        </p:spPr>
      </p:sp>
      <p:pic>
        <p:nvPicPr>
          <p:cNvPr id="14" name="Point icon glyph" descr="preencoded.png">    </p:cNvPr>
          <p:cNvPicPr>
            <a:picLocks noChangeAspect="1"/>
          </p:cNvPicPr>
          <p:nvPr/>
        </p:nvPicPr>
        <p:blipFill>
          <a:blip r:embed="rId3"/>
          <a:stretch>
            <a:fillRect/>
          </a:stretch>
        </p:blipFill>
        <p:spPr>
          <a:xfrm>
            <a:off x="1007669" y="4893869"/>
            <a:ext cx="499262" cy="499262"/>
          </a:xfrm>
          <a:prstGeom prst="rect">
            <a:avLst/>
          </a:prstGeom>
        </p:spPr>
      </p:pic>
      <p:sp>
        <p:nvSpPr>
          <p:cNvPr id="15" name="Text 9"/>
          <p:cNvSpPr txBox="1"/>
          <p:nvPr/>
        </p:nvSpPr>
        <p:spPr>
          <a:xfrm>
            <a:off x="2011680" y="4526280"/>
            <a:ext cx="9418320" cy="1234440"/>
          </a:xfrm>
          <a:prstGeom prst="rect">
            <a:avLst/>
          </a:prstGeom>
          <a:noFill/>
          <a:ln/>
        </p:spPr>
        <p:txBody>
          <a:bodyPr wrap="square" lIns="0" tIns="0" rIns="0" bIns="0" rtlCol="0" anchor="ctr"/>
          <a:lstStyle/>
          <a:p>
            <a:pPr indent="0" marL="0">
              <a:buNone/>
            </a:pPr>
            <a:r>
              <a:rPr lang="en-US" sz="3400" b="1" dirty="0">
                <a:solidFill>
                  <a:schemeClr val="tx2"/>
                </a:solidFill>
              </a:rPr>
              <a:t>Sticking to right priorities and activities</a:t>
            </a:r>
            <a:endParaRPr lang="en-US" sz="34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Quote mark"/>
          <p:cNvSpPr txBox="1"/>
          <p:nvPr/>
        </p:nvSpPr>
        <p:spPr>
          <a:xfrm>
            <a:off x="640080" y="228600"/>
            <a:ext cx="1463040" cy="1463040"/>
          </a:xfrm>
          <a:prstGeom prst="rect">
            <a:avLst/>
          </a:prstGeom>
          <a:noFill/>
          <a:ln/>
        </p:spPr>
        <p:txBody>
          <a:bodyPr wrap="square" lIns="0" tIns="0" rIns="0" bIns="0" rtlCol="0" anchor="ctr"/>
          <a:lstStyle/>
          <a:p>
            <a:pPr indent="0" marL="0">
              <a:buNone/>
            </a:pPr>
            <a:r>
              <a:rPr lang="en-US" sz="15000" b="1" dirty="0">
                <a:solidFill>
                  <a:schemeClr val="accent4"/>
                </a:solidFill>
                <a:latin typeface="Cambria" pitchFamily="34" charset="0"/>
                <a:ea typeface="Cambria" pitchFamily="34" charset="-122"/>
                <a:cs typeface="Cambria" pitchFamily="34" charset="-120"/>
              </a:rPr>
              <a:t>“</a:t>
            </a:r>
            <a:endParaRPr lang="en-US" sz="15000" dirty="0"/>
          </a:p>
        </p:txBody>
      </p:sp>
      <p:sp>
        <p:nvSpPr>
          <p:cNvPr id="4" name="Verse"/>
          <p:cNvSpPr txBox="1"/>
          <p:nvPr/>
        </p:nvSpPr>
        <p:spPr>
          <a:xfrm>
            <a:off x="822960" y="1280160"/>
            <a:ext cx="8229600" cy="4114800"/>
          </a:xfrm>
          <a:prstGeom prst="rect">
            <a:avLst/>
          </a:prstGeom>
          <a:noFill/>
          <a:ln/>
        </p:spPr>
        <p:txBody>
          <a:bodyPr wrap="square" lIns="0" tIns="0" rIns="0" bIns="0" rtlCol="0" anchor="ctr"/>
          <a:lstStyle/>
          <a:p>
            <a:pPr indent="0" marL="0">
              <a:lnSpc>
                <a:spcPct val="108000"/>
              </a:lnSpc>
              <a:spcAft>
                <a:spcPts val="600"/>
              </a:spcAft>
              <a:buNone/>
            </a:pPr>
            <a:r>
              <a:rPr lang="en-US" sz="4000" b="1" dirty="0">
                <a:solidFill>
                  <a:schemeClr val="accent1"/>
                </a:solidFill>
                <a:latin typeface="Cambria" pitchFamily="34" charset="0"/>
                <a:ea typeface="Cambria" pitchFamily="34" charset="-122"/>
                <a:cs typeface="Cambria" pitchFamily="34" charset="-120"/>
              </a:rPr>
              <a:t>Be self-controlled</a:t>
            </a:r>
            <a:pPr indent="0" marL="0">
              <a:lnSpc>
                <a:spcPct val="108000"/>
              </a:lnSpc>
              <a:spcAft>
                <a:spcPts val="600"/>
              </a:spcAft>
              <a:buNone/>
            </a:pPr>
            <a:r>
              <a:rPr lang="en-US" sz="4000" dirty="0">
                <a:solidFill>
                  <a:schemeClr val="bg1"/>
                </a:solidFill>
                <a:latin typeface="Cambria" pitchFamily="34" charset="0"/>
                <a:ea typeface="Cambria" pitchFamily="34" charset="-122"/>
                <a:cs typeface="Cambria" pitchFamily="34" charset="-120"/>
              </a:rPr>
              <a:t> and alert. Your enemy the devil prowls around like a roaring lion looking for someone to devour.</a:t>
            </a:r>
            <a:endParaRPr lang="en-US" sz="4000" dirty="0"/>
          </a:p>
        </p:txBody>
      </p:sp>
      <p:sp>
        <p:nvSpPr>
          <p:cNvPr id="5"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1"/>
                </a:solidFill>
              </a:rPr>
              <a:t>1 Peter 5:8 (NIV)</a:t>
            </a:r>
            <a:endParaRPr lang="en-US" sz="2800" dirty="0"/>
          </a:p>
        </p:txBody>
      </p:sp>
      <p:sp>
        <p:nvSpPr>
          <p:cNvPr id="6" name="Verse icon"/>
          <p:cNvSpPr/>
          <p:nvPr/>
        </p:nvSpPr>
        <p:spPr>
          <a:xfrm>
            <a:off x="9418320" y="2240280"/>
            <a:ext cx="2286000" cy="2286000"/>
          </a:xfrm>
          <a:prstGeom prst="ellipse">
            <a:avLst/>
          </a:prstGeom>
          <a:solidFill>
            <a:schemeClr val="accent4"/>
          </a:solidFill>
          <a:ln/>
        </p:spPr>
      </p:sp>
      <p:pic>
        <p:nvPicPr>
          <p:cNvPr id="7"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Quote mark"/>
          <p:cNvSpPr txBox="1"/>
          <p:nvPr/>
        </p:nvSpPr>
        <p:spPr>
          <a:xfrm>
            <a:off x="640080" y="228600"/>
            <a:ext cx="1463040" cy="1463040"/>
          </a:xfrm>
          <a:prstGeom prst="rect">
            <a:avLst/>
          </a:prstGeom>
          <a:noFill/>
          <a:ln/>
        </p:spPr>
        <p:txBody>
          <a:bodyPr wrap="square" lIns="0" tIns="0" rIns="0" bIns="0" rtlCol="0" anchor="ctr"/>
          <a:lstStyle/>
          <a:p>
            <a:pPr indent="0" marL="0">
              <a:buNone/>
            </a:pPr>
            <a:r>
              <a:rPr lang="en-US" sz="15000" b="1" dirty="0">
                <a:solidFill>
                  <a:schemeClr val="accent4"/>
                </a:solidFill>
                <a:latin typeface="Cambria" pitchFamily="34" charset="0"/>
                <a:ea typeface="Cambria" pitchFamily="34" charset="-122"/>
                <a:cs typeface="Cambria" pitchFamily="34" charset="-120"/>
              </a:rPr>
              <a:t>“</a:t>
            </a:r>
            <a:endParaRPr lang="en-US" sz="15000" dirty="0"/>
          </a:p>
        </p:txBody>
      </p:sp>
      <p:sp>
        <p:nvSpPr>
          <p:cNvPr id="4" name="Verse"/>
          <p:cNvSpPr txBox="1"/>
          <p:nvPr/>
        </p:nvSpPr>
        <p:spPr>
          <a:xfrm>
            <a:off x="822960" y="1280160"/>
            <a:ext cx="8229600" cy="4114800"/>
          </a:xfrm>
          <a:prstGeom prst="rect">
            <a:avLst/>
          </a:prstGeom>
          <a:noFill/>
          <a:ln/>
        </p:spPr>
        <p:txBody>
          <a:bodyPr wrap="square" lIns="0" tIns="0" rIns="0" bIns="0" rtlCol="0" anchor="ctr"/>
          <a:lstStyle/>
          <a:p>
            <a:pPr indent="0" marL="0">
              <a:lnSpc>
                <a:spcPct val="108000"/>
              </a:lnSpc>
              <a:spcAft>
                <a:spcPts val="600"/>
              </a:spcAft>
              <a:buNone/>
            </a:pPr>
            <a:r>
              <a:rPr lang="en-US" sz="3600" dirty="0">
                <a:solidFill>
                  <a:schemeClr val="bg1"/>
                </a:solidFill>
                <a:latin typeface="Cambria" pitchFamily="34" charset="0"/>
                <a:ea typeface="Cambria" pitchFamily="34" charset="-122"/>
                <a:cs typeface="Cambria" pitchFamily="34" charset="-120"/>
              </a:rPr>
              <a:t>I discipline my body like an athlete, training it to do what it should. Otherwise, I fear that after preaching to others I myself might be disqualified.</a:t>
            </a:r>
            <a:endParaRPr lang="en-US" sz="3600" dirty="0"/>
          </a:p>
        </p:txBody>
      </p:sp>
      <p:sp>
        <p:nvSpPr>
          <p:cNvPr id="5"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1"/>
                </a:solidFill>
              </a:rPr>
              <a:t>1 Corinthians 9:27 (NLT)</a:t>
            </a:r>
            <a:endParaRPr lang="en-US" sz="2800" dirty="0"/>
          </a:p>
        </p:txBody>
      </p:sp>
      <p:sp>
        <p:nvSpPr>
          <p:cNvPr id="6" name="Verse icon"/>
          <p:cNvSpPr/>
          <p:nvPr/>
        </p:nvSpPr>
        <p:spPr>
          <a:xfrm>
            <a:off x="9418320" y="2240280"/>
            <a:ext cx="2286000" cy="2286000"/>
          </a:xfrm>
          <a:prstGeom prst="ellipse">
            <a:avLst/>
          </a:prstGeom>
          <a:solidFill>
            <a:schemeClr val="accent4"/>
          </a:solidFill>
          <a:ln/>
        </p:spPr>
      </p:sp>
      <p:pic>
        <p:nvPicPr>
          <p:cNvPr id="7"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Section number"/>
          <p:cNvSpPr txBox="1"/>
          <p:nvPr/>
        </p:nvSpPr>
        <p:spPr>
          <a:xfrm>
            <a:off x="365760" y="914400"/>
            <a:ext cx="3291840" cy="4206240"/>
          </a:xfrm>
          <a:prstGeom prst="rect">
            <a:avLst/>
          </a:prstGeom>
          <a:noFill/>
          <a:ln/>
        </p:spPr>
        <p:txBody>
          <a:bodyPr wrap="square" lIns="0" tIns="0" rIns="0" bIns="0" rtlCol="0" anchor="ctr"/>
          <a:lstStyle/>
          <a:p>
            <a:pPr algn="ctr" indent="0" marL="0">
              <a:buNone/>
            </a:pPr>
            <a:r>
              <a:rPr lang="en-US" sz="25000" b="1" dirty="0">
                <a:solidFill>
                  <a:schemeClr val="accent5"/>
                </a:solidFill>
                <a:latin typeface="Cambria" pitchFamily="34" charset="0"/>
                <a:ea typeface="Cambria" pitchFamily="34" charset="-122"/>
                <a:cs typeface="Cambria" pitchFamily="34" charset="-120"/>
              </a:rPr>
              <a:t>5.</a:t>
            </a:r>
            <a:endParaRPr lang="en-US" sz="25000" dirty="0"/>
          </a:p>
        </p:txBody>
      </p:sp>
      <p:sp>
        <p:nvSpPr>
          <p:cNvPr id="4" name="Section title"/>
          <p:cNvSpPr txBox="1"/>
          <p:nvPr/>
        </p:nvSpPr>
        <p:spPr>
          <a:xfrm>
            <a:off x="3749040" y="1737360"/>
            <a:ext cx="5029200" cy="310896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Sow A Correct Image</a:t>
            </a:r>
            <a:endParaRPr lang="en-US" sz="6000" dirty="0"/>
          </a:p>
        </p:txBody>
      </p:sp>
      <p:sp>
        <p:nvSpPr>
          <p:cNvPr id="5" name="Section icon"/>
          <p:cNvSpPr/>
          <p:nvPr/>
        </p:nvSpPr>
        <p:spPr>
          <a:xfrm>
            <a:off x="8915400" y="1874520"/>
            <a:ext cx="2926080" cy="2926080"/>
          </a:xfrm>
          <a:prstGeom prst="ellipse">
            <a:avLst/>
          </a:prstGeom>
          <a:solidFill>
            <a:schemeClr val="accent5"/>
          </a:solidFill>
          <a:ln/>
        </p:spPr>
      </p:sp>
      <p:pic>
        <p:nvPicPr>
          <p:cNvPr id="6" name="Section icon glyph" descr="preencoded.png">    </p:cNvPr>
          <p:cNvPicPr>
            <a:picLocks noChangeAspect="1"/>
          </p:cNvPicPr>
          <p:nvPr/>
        </p:nvPicPr>
        <p:blipFill>
          <a:blip r:embed="rId1"/>
          <a:stretch>
            <a:fillRect/>
          </a:stretch>
        </p:blipFill>
        <p:spPr>
          <a:xfrm>
            <a:off x="9617659" y="2576779"/>
            <a:ext cx="1521562" cy="1521562"/>
          </a:xfrm>
          <a:prstGeom prst="rect">
            <a:avLst/>
          </a:prstGeom>
        </p:spPr>
      </p:pic>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Statement icon"/>
          <p:cNvSpPr/>
          <p:nvPr/>
        </p:nvSpPr>
        <p:spPr>
          <a:xfrm>
            <a:off x="822960" y="1737360"/>
            <a:ext cx="3108960" cy="3108960"/>
          </a:xfrm>
          <a:prstGeom prst="ellipse">
            <a:avLst/>
          </a:prstGeom>
          <a:solidFill>
            <a:schemeClr val="accent5"/>
          </a:solidFill>
          <a:ln/>
        </p:spPr>
      </p:sp>
      <p:pic>
        <p:nvPicPr>
          <p:cNvPr id="4" name="Statement icon glyph" descr="preencoded.png">    </p:cNvPr>
          <p:cNvPicPr>
            <a:picLocks noChangeAspect="1"/>
          </p:cNvPicPr>
          <p:nvPr/>
        </p:nvPicPr>
        <p:blipFill>
          <a:blip r:embed="rId1"/>
          <a:stretch>
            <a:fillRect/>
          </a:stretch>
        </p:blipFill>
        <p:spPr>
          <a:xfrm>
            <a:off x="1569110" y="2483510"/>
            <a:ext cx="1616659" cy="1616659"/>
          </a:xfrm>
          <a:prstGeom prst="rect">
            <a:avLst/>
          </a:prstGeom>
        </p:spPr>
      </p:pic>
      <p:sp>
        <p:nvSpPr>
          <p:cNvPr id="5" name="Lead-in"/>
          <p:cNvSpPr txBox="1"/>
          <p:nvPr/>
        </p:nvSpPr>
        <p:spPr>
          <a:xfrm>
            <a:off x="4572000" y="1188720"/>
            <a:ext cx="6949440" cy="1828800"/>
          </a:xfrm>
          <a:prstGeom prst="rect">
            <a:avLst/>
          </a:prstGeom>
          <a:noFill/>
          <a:ln/>
        </p:spPr>
        <p:txBody>
          <a:bodyPr wrap="square" lIns="0" tIns="0" rIns="0" bIns="0" rtlCol="0" anchor="b"/>
          <a:lstStyle/>
          <a:p>
            <a:pPr indent="0" marL="0">
              <a:buNone/>
            </a:pPr>
            <a:r>
              <a:rPr lang="en-US" sz="4000" dirty="0">
                <a:solidFill>
                  <a:schemeClr val="tx2"/>
                </a:solidFill>
                <a:latin typeface="Cambria" pitchFamily="34" charset="0"/>
                <a:ea typeface="Cambria" pitchFamily="34" charset="-122"/>
                <a:cs typeface="Cambria" pitchFamily="34" charset="-120"/>
              </a:rPr>
              <a:t>To sow a correct image is to be</a:t>
            </a:r>
            <a:endParaRPr lang="en-US" sz="4000" dirty="0"/>
          </a:p>
        </p:txBody>
      </p:sp>
      <p:sp>
        <p:nvSpPr>
          <p:cNvPr id="6" name="Key phrase"/>
          <p:cNvSpPr txBox="1"/>
          <p:nvPr/>
        </p:nvSpPr>
        <p:spPr>
          <a:xfrm>
            <a:off x="4572000" y="3200400"/>
            <a:ext cx="6949440" cy="2377440"/>
          </a:xfrm>
          <a:prstGeom prst="rect">
            <a:avLst/>
          </a:prstGeom>
          <a:noFill/>
          <a:ln/>
        </p:spPr>
        <p:txBody>
          <a:bodyPr wrap="square" lIns="0" tIns="0" rIns="0" bIns="0" rtlCol="0" anchor="t"/>
          <a:lstStyle/>
          <a:p>
            <a:pPr indent="0" marL="0">
              <a:buNone/>
            </a:pPr>
            <a:r>
              <a:rPr lang="en-US" sz="6000" b="1" dirty="0">
                <a:solidFill>
                  <a:schemeClr val="accent5"/>
                </a:solidFill>
                <a:latin typeface="Cambria" pitchFamily="34" charset="0"/>
                <a:ea typeface="Cambria" pitchFamily="34" charset="-122"/>
                <a:cs typeface="Cambria" pitchFamily="34" charset="-120"/>
              </a:rPr>
              <a:t>at peace with yourself</a:t>
            </a:r>
            <a:endParaRPr lang="en-US" sz="60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Having a correct image means:</a:t>
            </a:r>
            <a:endParaRPr lang="en-US" sz="4000" dirty="0"/>
          </a:p>
        </p:txBody>
      </p:sp>
      <p:sp>
        <p:nvSpPr>
          <p:cNvPr id="4" name="Point icon"/>
          <p:cNvSpPr/>
          <p:nvPr/>
        </p:nvSpPr>
        <p:spPr>
          <a:xfrm>
            <a:off x="685800" y="1645920"/>
            <a:ext cx="1188720" cy="1188720"/>
          </a:xfrm>
          <a:prstGeom prst="ellipse">
            <a:avLst/>
          </a:prstGeom>
          <a:solidFill>
            <a:schemeClr val="accent5"/>
          </a:solidFill>
          <a:ln/>
        </p:spPr>
      </p:sp>
      <p:pic>
        <p:nvPicPr>
          <p:cNvPr id="5" name="Point icon glyph" descr="preencoded.png">    </p:cNvPr>
          <p:cNvPicPr>
            <a:picLocks noChangeAspect="1"/>
          </p:cNvPicPr>
          <p:nvPr/>
        </p:nvPicPr>
        <p:blipFill>
          <a:blip r:embed="rId1"/>
          <a:stretch>
            <a:fillRect/>
          </a:stretch>
        </p:blipFill>
        <p:spPr>
          <a:xfrm>
            <a:off x="971093" y="1931213"/>
            <a:ext cx="618134" cy="618134"/>
          </a:xfrm>
          <a:prstGeom prst="rect">
            <a:avLst/>
          </a:prstGeom>
        </p:spPr>
      </p:pic>
      <p:sp>
        <p:nvSpPr>
          <p:cNvPr id="6" name="Text 2"/>
          <p:cNvSpPr txBox="1"/>
          <p:nvPr/>
        </p:nvSpPr>
        <p:spPr>
          <a:xfrm>
            <a:off x="2194560" y="1645920"/>
            <a:ext cx="9418320" cy="1188720"/>
          </a:xfrm>
          <a:prstGeom prst="rect">
            <a:avLst/>
          </a:prstGeom>
          <a:noFill/>
          <a:ln/>
        </p:spPr>
        <p:txBody>
          <a:bodyPr wrap="square" lIns="0" tIns="0" rIns="0" bIns="0" rtlCol="0" anchor="ctr"/>
          <a:lstStyle/>
          <a:p>
            <a:pPr indent="0" marL="0">
              <a:buNone/>
            </a:pPr>
            <a:r>
              <a:rPr lang="en-US" sz="3600" b="1" dirty="0">
                <a:solidFill>
                  <a:schemeClr val="tx2"/>
                </a:solidFill>
              </a:rPr>
              <a:t>You have a positive self esteem.</a:t>
            </a:r>
            <a:endParaRPr lang="en-US" sz="3600" dirty="0"/>
          </a:p>
        </p:txBody>
      </p:sp>
      <p:sp>
        <p:nvSpPr>
          <p:cNvPr id="7" name="Point icon"/>
          <p:cNvSpPr/>
          <p:nvPr/>
        </p:nvSpPr>
        <p:spPr>
          <a:xfrm>
            <a:off x="685800" y="3246120"/>
            <a:ext cx="1188720" cy="1188720"/>
          </a:xfrm>
          <a:prstGeom prst="ellipse">
            <a:avLst/>
          </a:prstGeom>
          <a:solidFill>
            <a:schemeClr val="accent5"/>
          </a:solidFill>
          <a:ln/>
        </p:spPr>
      </p:sp>
      <p:pic>
        <p:nvPicPr>
          <p:cNvPr id="8" name="Point icon glyph" descr="preencoded.png">    </p:cNvPr>
          <p:cNvPicPr>
            <a:picLocks noChangeAspect="1"/>
          </p:cNvPicPr>
          <p:nvPr/>
        </p:nvPicPr>
        <p:blipFill>
          <a:blip r:embed="rId2"/>
          <a:stretch>
            <a:fillRect/>
          </a:stretch>
        </p:blipFill>
        <p:spPr>
          <a:xfrm>
            <a:off x="971093" y="3531413"/>
            <a:ext cx="618134" cy="618134"/>
          </a:xfrm>
          <a:prstGeom prst="rect">
            <a:avLst/>
          </a:prstGeom>
        </p:spPr>
      </p:pic>
      <p:sp>
        <p:nvSpPr>
          <p:cNvPr id="9" name="Text 4"/>
          <p:cNvSpPr txBox="1"/>
          <p:nvPr/>
        </p:nvSpPr>
        <p:spPr>
          <a:xfrm>
            <a:off x="2194560" y="3246120"/>
            <a:ext cx="9418320" cy="1188720"/>
          </a:xfrm>
          <a:prstGeom prst="rect">
            <a:avLst/>
          </a:prstGeom>
          <a:noFill/>
          <a:ln/>
        </p:spPr>
        <p:txBody>
          <a:bodyPr wrap="square" lIns="0" tIns="0" rIns="0" bIns="0" rtlCol="0" anchor="ctr"/>
          <a:lstStyle/>
          <a:p>
            <a:pPr indent="0" marL="0">
              <a:buNone/>
            </a:pPr>
            <a:r>
              <a:rPr lang="en-US" sz="3600" b="1" dirty="0">
                <a:solidFill>
                  <a:schemeClr val="tx2"/>
                </a:solidFill>
              </a:rPr>
              <a:t>You feel good about yourself.</a:t>
            </a:r>
            <a:endParaRPr lang="en-US" sz="3600" dirty="0"/>
          </a:p>
        </p:txBody>
      </p:sp>
      <p:sp>
        <p:nvSpPr>
          <p:cNvPr id="10" name="Point icon"/>
          <p:cNvSpPr/>
          <p:nvPr/>
        </p:nvSpPr>
        <p:spPr>
          <a:xfrm>
            <a:off x="685800" y="4846320"/>
            <a:ext cx="1188720" cy="1188720"/>
          </a:xfrm>
          <a:prstGeom prst="ellipse">
            <a:avLst/>
          </a:prstGeom>
          <a:solidFill>
            <a:schemeClr val="accent5"/>
          </a:solidFill>
          <a:ln/>
        </p:spPr>
      </p:sp>
      <p:pic>
        <p:nvPicPr>
          <p:cNvPr id="11" name="Point icon glyph" descr="preencoded.png">    </p:cNvPr>
          <p:cNvPicPr>
            <a:picLocks noChangeAspect="1"/>
          </p:cNvPicPr>
          <p:nvPr/>
        </p:nvPicPr>
        <p:blipFill>
          <a:blip r:embed="rId3"/>
          <a:stretch>
            <a:fillRect/>
          </a:stretch>
        </p:blipFill>
        <p:spPr>
          <a:xfrm>
            <a:off x="971093" y="5131613"/>
            <a:ext cx="618134" cy="618134"/>
          </a:xfrm>
          <a:prstGeom prst="rect">
            <a:avLst/>
          </a:prstGeom>
        </p:spPr>
      </p:pic>
      <p:sp>
        <p:nvSpPr>
          <p:cNvPr id="12" name="Text 6"/>
          <p:cNvSpPr txBox="1"/>
          <p:nvPr/>
        </p:nvSpPr>
        <p:spPr>
          <a:xfrm>
            <a:off x="2194560" y="4846320"/>
            <a:ext cx="9418320" cy="1188720"/>
          </a:xfrm>
          <a:prstGeom prst="rect">
            <a:avLst/>
          </a:prstGeom>
          <a:noFill/>
          <a:ln/>
        </p:spPr>
        <p:txBody>
          <a:bodyPr wrap="square" lIns="0" tIns="0" rIns="0" bIns="0" rtlCol="0" anchor="ctr"/>
          <a:lstStyle/>
          <a:p>
            <a:pPr indent="0" marL="0">
              <a:buNone/>
            </a:pPr>
            <a:r>
              <a:rPr lang="en-US" sz="3600" b="1" dirty="0">
                <a:solidFill>
                  <a:schemeClr val="tx2"/>
                </a:solidFill>
              </a:rPr>
              <a:t>You have a healthy outlook of who you are in Christ.</a:t>
            </a:r>
            <a:endParaRPr lang="en-US" sz="36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1005840"/>
          </a:xfrm>
          <a:prstGeom prst="rect">
            <a:avLst/>
          </a:prstGeom>
          <a:noFill/>
          <a:ln/>
        </p:spPr>
        <p:txBody>
          <a:bodyPr wrap="square" lIns="0" tIns="0" rIns="0" bIns="0" rtlCol="0" anchor="ctr"/>
          <a:lstStyle/>
          <a:p>
            <a:pPr indent="0" marL="0">
              <a:buNone/>
            </a:pPr>
            <a:r>
              <a:rPr lang="en-US" sz="4000" b="1" dirty="0">
                <a:solidFill>
                  <a:schemeClr val="tx2"/>
                </a:solidFill>
              </a:rPr>
              <a:t>Having a correct image means:</a:t>
            </a:r>
            <a:endParaRPr lang="en-US" sz="4000" dirty="0"/>
          </a:p>
        </p:txBody>
      </p:sp>
      <p:sp>
        <p:nvSpPr>
          <p:cNvPr id="4" name="God sees you card"/>
          <p:cNvSpPr/>
          <p:nvPr/>
        </p:nvSpPr>
        <p:spPr>
          <a:xfrm>
            <a:off x="548640" y="1508760"/>
            <a:ext cx="11064240" cy="2514600"/>
          </a:xfrm>
          <a:prstGeom prst="roundRect">
            <a:avLst>
              <a:gd name="adj" fmla="val 7273"/>
            </a:avLst>
          </a:prstGeom>
          <a:solidFill>
            <a:schemeClr val="bg1"/>
          </a:solidFill>
          <a:ln w="12700">
            <a:solidFill>
              <a:srgbClr val="E2DAF0"/>
            </a:solidFill>
            <a:prstDash val="solid"/>
          </a:ln>
          <a:effectLst>
            <a:outerShdw sx="100000" sy="100000" kx="0" ky="0" algn="bl" rotWithShape="0" blurRad="127000" dist="38100" dir="5400000">
              <a:srgbClr val="1E4D2B">
                <a:alpha val="18000"/>
              </a:srgbClr>
            </a:outerShdw>
          </a:effectLst>
        </p:spPr>
      </p:sp>
      <p:sp>
        <p:nvSpPr>
          <p:cNvPr id="5" name="Text 2"/>
          <p:cNvSpPr txBox="1"/>
          <p:nvPr/>
        </p:nvSpPr>
        <p:spPr>
          <a:xfrm>
            <a:off x="914400" y="1645920"/>
            <a:ext cx="10332720" cy="1188720"/>
          </a:xfrm>
          <a:prstGeom prst="rect">
            <a:avLst/>
          </a:prstGeom>
          <a:noFill/>
          <a:ln/>
        </p:spPr>
        <p:txBody>
          <a:bodyPr wrap="square" lIns="0" tIns="0" rIns="0" bIns="0" rtlCol="0" anchor="ctr"/>
          <a:lstStyle/>
          <a:p>
            <a:pPr indent="0" marL="0">
              <a:buNone/>
            </a:pPr>
            <a:r>
              <a:rPr lang="en-US" sz="3400" b="1" dirty="0">
                <a:solidFill>
                  <a:schemeClr val="tx2"/>
                </a:solidFill>
              </a:rPr>
              <a:t>You see yourself the way God sees you. Unique, precious, lovable and important.</a:t>
            </a:r>
            <a:endParaRPr lang="en-US" sz="3400" dirty="0"/>
          </a:p>
        </p:txBody>
      </p:sp>
      <p:sp>
        <p:nvSpPr>
          <p:cNvPr id="6" name="finger icon"/>
          <p:cNvSpPr/>
          <p:nvPr/>
        </p:nvSpPr>
        <p:spPr>
          <a:xfrm>
            <a:off x="2743200" y="2926080"/>
            <a:ext cx="914400" cy="914400"/>
          </a:xfrm>
          <a:prstGeom prst="ellipse">
            <a:avLst/>
          </a:prstGeom>
          <a:solidFill>
            <a:schemeClr val="accent5"/>
          </a:solidFill>
          <a:ln/>
        </p:spPr>
      </p:sp>
      <p:pic>
        <p:nvPicPr>
          <p:cNvPr id="7" name="finger icon glyph" descr="preencoded.png">    </p:cNvPr>
          <p:cNvPicPr>
            <a:picLocks noChangeAspect="1"/>
          </p:cNvPicPr>
          <p:nvPr/>
        </p:nvPicPr>
        <p:blipFill>
          <a:blip r:embed="rId1"/>
          <a:stretch>
            <a:fillRect/>
          </a:stretch>
        </p:blipFill>
        <p:spPr>
          <a:xfrm>
            <a:off x="2962656" y="3145536"/>
            <a:ext cx="475488" cy="475488"/>
          </a:xfrm>
          <a:prstGeom prst="rect">
            <a:avLst/>
          </a:prstGeom>
        </p:spPr>
      </p:pic>
      <p:sp>
        <p:nvSpPr>
          <p:cNvPr id="8" name="gem icon"/>
          <p:cNvSpPr/>
          <p:nvPr/>
        </p:nvSpPr>
        <p:spPr>
          <a:xfrm>
            <a:off x="4663440" y="2926080"/>
            <a:ext cx="914400" cy="914400"/>
          </a:xfrm>
          <a:prstGeom prst="ellipse">
            <a:avLst/>
          </a:prstGeom>
          <a:solidFill>
            <a:schemeClr val="accent5"/>
          </a:solidFill>
          <a:ln/>
        </p:spPr>
      </p:sp>
      <p:pic>
        <p:nvPicPr>
          <p:cNvPr id="9" name="gem icon glyph" descr="preencoded.png">    </p:cNvPr>
          <p:cNvPicPr>
            <a:picLocks noChangeAspect="1"/>
          </p:cNvPicPr>
          <p:nvPr/>
        </p:nvPicPr>
        <p:blipFill>
          <a:blip r:embed="rId2"/>
          <a:stretch>
            <a:fillRect/>
          </a:stretch>
        </p:blipFill>
        <p:spPr>
          <a:xfrm>
            <a:off x="4882896" y="3145536"/>
            <a:ext cx="475488" cy="475488"/>
          </a:xfrm>
          <a:prstGeom prst="rect">
            <a:avLst/>
          </a:prstGeom>
        </p:spPr>
      </p:pic>
      <p:sp>
        <p:nvSpPr>
          <p:cNvPr id="10" name="kind icon"/>
          <p:cNvSpPr/>
          <p:nvPr/>
        </p:nvSpPr>
        <p:spPr>
          <a:xfrm>
            <a:off x="6583680" y="2926080"/>
            <a:ext cx="914400" cy="914400"/>
          </a:xfrm>
          <a:prstGeom prst="ellipse">
            <a:avLst/>
          </a:prstGeom>
          <a:solidFill>
            <a:schemeClr val="accent5"/>
          </a:solidFill>
          <a:ln/>
        </p:spPr>
      </p:sp>
      <p:pic>
        <p:nvPicPr>
          <p:cNvPr id="11" name="kind icon glyph" descr="preencoded.png">    </p:cNvPr>
          <p:cNvPicPr>
            <a:picLocks noChangeAspect="1"/>
          </p:cNvPicPr>
          <p:nvPr/>
        </p:nvPicPr>
        <p:blipFill>
          <a:blip r:embed="rId3"/>
          <a:stretch>
            <a:fillRect/>
          </a:stretch>
        </p:blipFill>
        <p:spPr>
          <a:xfrm>
            <a:off x="6803136" y="3145536"/>
            <a:ext cx="475488" cy="475488"/>
          </a:xfrm>
          <a:prstGeom prst="rect">
            <a:avLst/>
          </a:prstGeom>
        </p:spPr>
      </p:pic>
      <p:sp>
        <p:nvSpPr>
          <p:cNvPr id="12" name="star icon"/>
          <p:cNvSpPr/>
          <p:nvPr/>
        </p:nvSpPr>
        <p:spPr>
          <a:xfrm>
            <a:off x="8503920" y="2926080"/>
            <a:ext cx="914400" cy="914400"/>
          </a:xfrm>
          <a:prstGeom prst="ellipse">
            <a:avLst/>
          </a:prstGeom>
          <a:solidFill>
            <a:schemeClr val="accent5"/>
          </a:solidFill>
          <a:ln/>
        </p:spPr>
      </p:sp>
      <p:pic>
        <p:nvPicPr>
          <p:cNvPr id="13" name="star icon glyph" descr="preencoded.png">    </p:cNvPr>
          <p:cNvPicPr>
            <a:picLocks noChangeAspect="1"/>
          </p:cNvPicPr>
          <p:nvPr/>
        </p:nvPicPr>
        <p:blipFill>
          <a:blip r:embed="rId4"/>
          <a:stretch>
            <a:fillRect/>
          </a:stretch>
        </p:blipFill>
        <p:spPr>
          <a:xfrm>
            <a:off x="8723376" y="3145536"/>
            <a:ext cx="475488" cy="475488"/>
          </a:xfrm>
          <a:prstGeom prst="rect">
            <a:avLst/>
          </a:prstGeom>
        </p:spPr>
      </p:pic>
      <p:sp>
        <p:nvSpPr>
          <p:cNvPr id="14" name="Winner banner"/>
          <p:cNvSpPr/>
          <p:nvPr/>
        </p:nvSpPr>
        <p:spPr>
          <a:xfrm>
            <a:off x="548640" y="4389120"/>
            <a:ext cx="11064240" cy="1463040"/>
          </a:xfrm>
          <a:prstGeom prst="roundRect">
            <a:avLst>
              <a:gd name="adj" fmla="val 12500"/>
            </a:avLst>
          </a:prstGeom>
          <a:solidFill>
            <a:schemeClr val="accent5"/>
          </a:solidFill>
          <a:ln/>
          <a:effectLst>
            <a:outerShdw sx="100000" sy="100000" kx="0" ky="0" algn="bl" rotWithShape="0" blurRad="127000" dist="38100" dir="5400000">
              <a:srgbClr val="1E4D2B">
                <a:alpha val="18000"/>
              </a:srgbClr>
            </a:outerShdw>
          </a:effectLst>
        </p:spPr>
      </p:sp>
      <p:pic>
        <p:nvPicPr>
          <p:cNvPr id="15" name="Trophy" descr="preencoded.png">    </p:cNvPr>
          <p:cNvPicPr>
            <a:picLocks noChangeAspect="1"/>
          </p:cNvPicPr>
          <p:nvPr/>
        </p:nvPicPr>
        <p:blipFill>
          <a:blip r:embed="rId5"/>
          <a:stretch>
            <a:fillRect/>
          </a:stretch>
        </p:blipFill>
        <p:spPr>
          <a:xfrm>
            <a:off x="914400" y="4617720"/>
            <a:ext cx="1005840" cy="1005840"/>
          </a:xfrm>
          <a:prstGeom prst="rect">
            <a:avLst/>
          </a:prstGeom>
        </p:spPr>
      </p:pic>
      <p:sp>
        <p:nvSpPr>
          <p:cNvPr id="16" name="Text 8"/>
          <p:cNvSpPr txBox="1"/>
          <p:nvPr/>
        </p:nvSpPr>
        <p:spPr>
          <a:xfrm>
            <a:off x="2286000" y="4389120"/>
            <a:ext cx="9144000" cy="1463040"/>
          </a:xfrm>
          <a:prstGeom prst="rect">
            <a:avLst/>
          </a:prstGeom>
          <a:noFill/>
          <a:ln/>
        </p:spPr>
        <p:txBody>
          <a:bodyPr wrap="square" lIns="0" tIns="0" rIns="0" bIns="0" rtlCol="0" anchor="ctr"/>
          <a:lstStyle/>
          <a:p>
            <a:pPr indent="0" marL="0">
              <a:buNone/>
            </a:pPr>
            <a:r>
              <a:rPr lang="en-US" sz="3400" b="1" dirty="0">
                <a:solidFill>
                  <a:schemeClr val="bg1"/>
                </a:solidFill>
              </a:rPr>
              <a:t>You see yourself as a winner in Christ and not a failure.</a:t>
            </a:r>
            <a:endParaRPr lang="en-US" sz="3400" dirty="0"/>
          </a:p>
        </p:txBody>
      </p:sp>
      <p:sp>
        <p:nvSpPr>
          <p:cNvPr id="25" name="Slide Number Placeholder 0"/>
          <p:cNvSpPr>
            <a:spLocks noGrp="1"/>
          </p:cNvSpPr>
          <p:nvPr>
            <p:ph type="sldNum" sz="quarter" idx="4294967295"/>
          </p:nvPr>
        </p:nvSpPr>
        <p:spPr>
          <a:xfrm>
            <a:off x="11201400" y="6355080"/>
            <a:ext cx="640080" cy="365760"/>
          </a:xfrm>
          <a:prstGeom prst="rect">
            <a:avLst/>
          </a:prstGeom>
          <a:extLst>
            <a:ext uri="{C572A759-6A51-4108-AA02-DFA0A04FC94B}">
              <ma14:wrappingTextBoxFlag xmlns:ma14="http://schemas.microsoft.com/office/mac/drawingml/2011/main" val="0"/>
            </a:ext>
          </a:extLst>
        </p:spPr>
        <p:txBody>
          <a:bodyPr/>
          <a:lstStyle>
            <a:lvl1pPr>
              <a:defRPr sz="1400">
                <a:solidFill>
                  <a:srgbClr val="5E7A64"/>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Quote mark"/>
          <p:cNvSpPr txBox="1"/>
          <p:nvPr/>
        </p:nvSpPr>
        <p:spPr>
          <a:xfrm>
            <a:off x="640080" y="228600"/>
            <a:ext cx="1463040" cy="1463040"/>
          </a:xfrm>
          <a:prstGeom prst="rect">
            <a:avLst/>
          </a:prstGeom>
          <a:noFill/>
          <a:ln/>
        </p:spPr>
        <p:txBody>
          <a:bodyPr wrap="square" lIns="0" tIns="0" rIns="0" bIns="0" rtlCol="0" anchor="ctr"/>
          <a:lstStyle/>
          <a:p>
            <a:pPr indent="0" marL="0">
              <a:buNone/>
            </a:pPr>
            <a:r>
              <a:rPr lang="en-US" sz="15000" b="1" dirty="0">
                <a:solidFill>
                  <a:schemeClr val="accent5"/>
                </a:solidFill>
                <a:latin typeface="Cambria" pitchFamily="34" charset="0"/>
                <a:ea typeface="Cambria" pitchFamily="34" charset="-122"/>
                <a:cs typeface="Cambria" pitchFamily="34" charset="-120"/>
              </a:rPr>
              <a:t>“</a:t>
            </a:r>
            <a:endParaRPr lang="en-US" sz="15000" dirty="0"/>
          </a:p>
        </p:txBody>
      </p:sp>
      <p:sp>
        <p:nvSpPr>
          <p:cNvPr id="4" name="Verse"/>
          <p:cNvSpPr txBox="1"/>
          <p:nvPr/>
        </p:nvSpPr>
        <p:spPr>
          <a:xfrm>
            <a:off x="822960" y="1280160"/>
            <a:ext cx="8229600" cy="4114800"/>
          </a:xfrm>
          <a:prstGeom prst="rect">
            <a:avLst/>
          </a:prstGeom>
          <a:noFill/>
          <a:ln/>
        </p:spPr>
        <p:txBody>
          <a:bodyPr wrap="square" lIns="0" tIns="0" rIns="0" bIns="0" rtlCol="0" anchor="ctr"/>
          <a:lstStyle/>
          <a:p>
            <a:pPr indent="0" marL="0">
              <a:lnSpc>
                <a:spcPct val="108000"/>
              </a:lnSpc>
              <a:spcAft>
                <a:spcPts val="600"/>
              </a:spcAft>
              <a:buNone/>
            </a:pPr>
            <a:r>
              <a:rPr lang="en-US" sz="3400" dirty="0">
                <a:solidFill>
                  <a:schemeClr val="bg1"/>
                </a:solidFill>
                <a:latin typeface="Cambria" pitchFamily="34" charset="0"/>
                <a:ea typeface="Cambria" pitchFamily="34" charset="-122"/>
                <a:cs typeface="Cambria" pitchFamily="34" charset="-120"/>
              </a:rPr>
              <a:t>For you created my inmost being; you knit me together in my mother's womb.   I praise you because </a:t>
            </a:r>
            <a:pPr indent="0" marL="0">
              <a:lnSpc>
                <a:spcPct val="108000"/>
              </a:lnSpc>
              <a:spcAft>
                <a:spcPts val="600"/>
              </a:spcAft>
              <a:buNone/>
            </a:pPr>
            <a:r>
              <a:rPr lang="en-US" sz="3400" b="1" dirty="0">
                <a:solidFill>
                  <a:schemeClr val="accent1"/>
                </a:solidFill>
                <a:latin typeface="Cambria" pitchFamily="34" charset="0"/>
                <a:ea typeface="Cambria" pitchFamily="34" charset="-122"/>
                <a:cs typeface="Cambria" pitchFamily="34" charset="-120"/>
              </a:rPr>
              <a:t>I am fearfully and wonderfully made</a:t>
            </a:r>
            <a:pPr indent="0" marL="0">
              <a:lnSpc>
                <a:spcPct val="108000"/>
              </a:lnSpc>
              <a:spcAft>
                <a:spcPts val="600"/>
              </a:spcAft>
              <a:buNone/>
            </a:pPr>
            <a:r>
              <a:rPr lang="en-US" sz="3400" dirty="0">
                <a:solidFill>
                  <a:schemeClr val="bg1"/>
                </a:solidFill>
                <a:latin typeface="Cambria" pitchFamily="34" charset="0"/>
                <a:ea typeface="Cambria" pitchFamily="34" charset="-122"/>
                <a:cs typeface="Cambria" pitchFamily="34" charset="-120"/>
              </a:rPr>
              <a:t>; your works are wonderful, I know that full well.</a:t>
            </a:r>
            <a:endParaRPr lang="en-US" sz="3400" dirty="0"/>
          </a:p>
        </p:txBody>
      </p:sp>
      <p:sp>
        <p:nvSpPr>
          <p:cNvPr id="5"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1"/>
                </a:solidFill>
              </a:rPr>
              <a:t>Psalms 139:13–14 (NIV)</a:t>
            </a:r>
            <a:endParaRPr lang="en-US" sz="2800" dirty="0"/>
          </a:p>
        </p:txBody>
      </p:sp>
      <p:sp>
        <p:nvSpPr>
          <p:cNvPr id="6" name="Verse icon"/>
          <p:cNvSpPr/>
          <p:nvPr/>
        </p:nvSpPr>
        <p:spPr>
          <a:xfrm>
            <a:off x="9418320" y="2240280"/>
            <a:ext cx="2286000" cy="2286000"/>
          </a:xfrm>
          <a:prstGeom prst="ellipse">
            <a:avLst/>
          </a:prstGeom>
          <a:solidFill>
            <a:schemeClr val="accent5"/>
          </a:solidFill>
          <a:ln/>
        </p:spPr>
      </p:sp>
      <p:pic>
        <p:nvPicPr>
          <p:cNvPr id="7"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Quote mark"/>
          <p:cNvSpPr txBox="1"/>
          <p:nvPr/>
        </p:nvSpPr>
        <p:spPr>
          <a:xfrm>
            <a:off x="640080" y="228600"/>
            <a:ext cx="1463040" cy="1463040"/>
          </a:xfrm>
          <a:prstGeom prst="rect">
            <a:avLst/>
          </a:prstGeom>
          <a:noFill/>
          <a:ln/>
        </p:spPr>
        <p:txBody>
          <a:bodyPr wrap="square" lIns="0" tIns="0" rIns="0" bIns="0" rtlCol="0" anchor="ctr"/>
          <a:lstStyle/>
          <a:p>
            <a:pPr indent="0" marL="0">
              <a:buNone/>
            </a:pPr>
            <a:r>
              <a:rPr lang="en-US" sz="15000" b="1" dirty="0">
                <a:solidFill>
                  <a:schemeClr val="accent5"/>
                </a:solidFill>
                <a:latin typeface="Cambria" pitchFamily="34" charset="0"/>
                <a:ea typeface="Cambria" pitchFamily="34" charset="-122"/>
                <a:cs typeface="Cambria" pitchFamily="34" charset="-120"/>
              </a:rPr>
              <a:t>“</a:t>
            </a:r>
            <a:endParaRPr lang="en-US" sz="15000" dirty="0"/>
          </a:p>
        </p:txBody>
      </p:sp>
      <p:sp>
        <p:nvSpPr>
          <p:cNvPr id="4" name="Verse"/>
          <p:cNvSpPr txBox="1"/>
          <p:nvPr/>
        </p:nvSpPr>
        <p:spPr>
          <a:xfrm>
            <a:off x="822960" y="1280160"/>
            <a:ext cx="8229600" cy="4114800"/>
          </a:xfrm>
          <a:prstGeom prst="rect">
            <a:avLst/>
          </a:prstGeom>
          <a:noFill/>
          <a:ln/>
        </p:spPr>
        <p:txBody>
          <a:bodyPr wrap="square" lIns="0" tIns="0" rIns="0" bIns="0" rtlCol="0" anchor="ctr"/>
          <a:lstStyle/>
          <a:p>
            <a:pPr indent="0" marL="0">
              <a:lnSpc>
                <a:spcPct val="108000"/>
              </a:lnSpc>
              <a:spcAft>
                <a:spcPts val="600"/>
              </a:spcAft>
              <a:buNone/>
            </a:pPr>
            <a:r>
              <a:rPr lang="en-US" sz="5600" dirty="0">
                <a:solidFill>
                  <a:schemeClr val="bg1"/>
                </a:solidFill>
                <a:latin typeface="Cambria" pitchFamily="34" charset="0"/>
                <a:ea typeface="Cambria" pitchFamily="34" charset="-122"/>
                <a:cs typeface="Cambria" pitchFamily="34" charset="-120"/>
              </a:rPr>
              <a:t>I can do all things through Christ who strengthens me.</a:t>
            </a:r>
            <a:endParaRPr lang="en-US" sz="5600" dirty="0"/>
          </a:p>
        </p:txBody>
      </p:sp>
      <p:sp>
        <p:nvSpPr>
          <p:cNvPr id="5" name="Reference"/>
          <p:cNvSpPr txBox="1"/>
          <p:nvPr/>
        </p:nvSpPr>
        <p:spPr>
          <a:xfrm>
            <a:off x="822960" y="5532120"/>
            <a:ext cx="8229600" cy="640080"/>
          </a:xfrm>
          <a:prstGeom prst="rect">
            <a:avLst/>
          </a:prstGeom>
          <a:noFill/>
          <a:ln/>
        </p:spPr>
        <p:txBody>
          <a:bodyPr wrap="square" lIns="0" tIns="0" rIns="0" bIns="0" rtlCol="0" anchor="ctr"/>
          <a:lstStyle/>
          <a:p>
            <a:pPr indent="0" marL="0">
              <a:buNone/>
            </a:pPr>
            <a:r>
              <a:rPr lang="en-US" sz="2800" b="1" dirty="0">
                <a:solidFill>
                  <a:schemeClr val="accent1"/>
                </a:solidFill>
              </a:rPr>
              <a:t>Philippians 4:13 (NKJV)</a:t>
            </a:r>
            <a:endParaRPr lang="en-US" sz="2800" dirty="0"/>
          </a:p>
        </p:txBody>
      </p:sp>
      <p:sp>
        <p:nvSpPr>
          <p:cNvPr id="6" name="Verse icon"/>
          <p:cNvSpPr/>
          <p:nvPr/>
        </p:nvSpPr>
        <p:spPr>
          <a:xfrm>
            <a:off x="9418320" y="2240280"/>
            <a:ext cx="2286000" cy="2286000"/>
          </a:xfrm>
          <a:prstGeom prst="ellipse">
            <a:avLst/>
          </a:prstGeom>
          <a:solidFill>
            <a:schemeClr val="accent5"/>
          </a:solidFill>
          <a:ln/>
        </p:spPr>
      </p:sp>
      <p:pic>
        <p:nvPicPr>
          <p:cNvPr id="7" name="Verse icon glyph" descr="preencoded.png">    </p:cNvPr>
          <p:cNvPicPr>
            <a:picLocks noChangeAspect="1"/>
          </p:cNvPicPr>
          <p:nvPr/>
        </p:nvPicPr>
        <p:blipFill>
          <a:blip r:embed="rId1"/>
          <a:stretch>
            <a:fillRect/>
          </a:stretch>
        </p:blipFill>
        <p:spPr>
          <a:xfrm>
            <a:off x="9966960" y="2788920"/>
            <a:ext cx="1188720" cy="1188720"/>
          </a:xfrm>
          <a:prstGeom prst="rect">
            <a:avLst/>
          </a:prstGeom>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txBox="1"/>
          <p:nvPr/>
        </p:nvSpPr>
        <p:spPr>
          <a:xfrm>
            <a:off x="640080" y="411480"/>
            <a:ext cx="7315200" cy="100584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Sowing the Best:</a:t>
            </a:r>
            <a:endParaRPr lang="en-US" sz="5400" dirty="0"/>
          </a:p>
        </p:txBody>
      </p:sp>
      <p:sp>
        <p:nvSpPr>
          <p:cNvPr id="4" name="Shape 1"/>
          <p:cNvSpPr/>
          <p:nvPr/>
        </p:nvSpPr>
        <p:spPr>
          <a:xfrm>
            <a:off x="731520" y="1691640"/>
            <a:ext cx="731520" cy="731520"/>
          </a:xfrm>
          <a:prstGeom prst="ellipse">
            <a:avLst/>
          </a:prstGeom>
          <a:solidFill>
            <a:schemeClr val="accent1"/>
          </a:solidFill>
          <a:ln/>
        </p:spPr>
      </p:sp>
      <p:sp>
        <p:nvSpPr>
          <p:cNvPr id="5" name="Text 2"/>
          <p:cNvSpPr txBox="1"/>
          <p:nvPr/>
        </p:nvSpPr>
        <p:spPr>
          <a:xfrm>
            <a:off x="731520" y="169164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6" name="Text 3"/>
          <p:cNvSpPr txBox="1"/>
          <p:nvPr/>
        </p:nvSpPr>
        <p:spPr>
          <a:xfrm>
            <a:off x="1737360" y="1691640"/>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positive attitudes</a:t>
            </a:r>
            <a:endParaRPr lang="en-US" sz="3600" dirty="0"/>
          </a:p>
        </p:txBody>
      </p:sp>
      <p:sp>
        <p:nvSpPr>
          <p:cNvPr id="7" name="Shape 4"/>
          <p:cNvSpPr/>
          <p:nvPr/>
        </p:nvSpPr>
        <p:spPr>
          <a:xfrm>
            <a:off x="731520" y="2606040"/>
            <a:ext cx="731520" cy="731520"/>
          </a:xfrm>
          <a:prstGeom prst="ellipse">
            <a:avLst/>
          </a:prstGeom>
          <a:solidFill>
            <a:schemeClr val="accent2"/>
          </a:solidFill>
          <a:ln/>
        </p:spPr>
      </p:sp>
      <p:sp>
        <p:nvSpPr>
          <p:cNvPr id="8" name="Text 5"/>
          <p:cNvSpPr txBox="1"/>
          <p:nvPr/>
        </p:nvSpPr>
        <p:spPr>
          <a:xfrm>
            <a:off x="731520" y="260604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9" name="Text 6"/>
          <p:cNvSpPr txBox="1"/>
          <p:nvPr/>
        </p:nvSpPr>
        <p:spPr>
          <a:xfrm>
            <a:off x="1737360" y="2606040"/>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integrity</a:t>
            </a:r>
            <a:endParaRPr lang="en-US" sz="3600" dirty="0"/>
          </a:p>
        </p:txBody>
      </p:sp>
      <p:sp>
        <p:nvSpPr>
          <p:cNvPr id="10" name="Shape 7"/>
          <p:cNvSpPr/>
          <p:nvPr/>
        </p:nvSpPr>
        <p:spPr>
          <a:xfrm>
            <a:off x="731520" y="3520440"/>
            <a:ext cx="731520" cy="731520"/>
          </a:xfrm>
          <a:prstGeom prst="ellipse">
            <a:avLst/>
          </a:prstGeom>
          <a:solidFill>
            <a:schemeClr val="accent3"/>
          </a:solidFill>
          <a:ln/>
        </p:spPr>
      </p:sp>
      <p:sp>
        <p:nvSpPr>
          <p:cNvPr id="11" name="Text 8"/>
          <p:cNvSpPr txBox="1"/>
          <p:nvPr/>
        </p:nvSpPr>
        <p:spPr>
          <a:xfrm>
            <a:off x="731520" y="352044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2" name="Text 9"/>
          <p:cNvSpPr txBox="1"/>
          <p:nvPr/>
        </p:nvSpPr>
        <p:spPr>
          <a:xfrm>
            <a:off x="1737360" y="3520440"/>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spirituality</a:t>
            </a:r>
            <a:endParaRPr lang="en-US" sz="3600" dirty="0"/>
          </a:p>
        </p:txBody>
      </p:sp>
      <p:sp>
        <p:nvSpPr>
          <p:cNvPr id="13" name="Shape 10"/>
          <p:cNvSpPr/>
          <p:nvPr/>
        </p:nvSpPr>
        <p:spPr>
          <a:xfrm>
            <a:off x="731520" y="4434840"/>
            <a:ext cx="731520" cy="731520"/>
          </a:xfrm>
          <a:prstGeom prst="ellipse">
            <a:avLst/>
          </a:prstGeom>
          <a:solidFill>
            <a:schemeClr val="accent4"/>
          </a:solidFill>
          <a:ln/>
        </p:spPr>
      </p:sp>
      <p:sp>
        <p:nvSpPr>
          <p:cNvPr id="14" name="Text 11"/>
          <p:cNvSpPr txBox="1"/>
          <p:nvPr/>
        </p:nvSpPr>
        <p:spPr>
          <a:xfrm>
            <a:off x="731520" y="443484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4</a:t>
            </a:r>
            <a:endParaRPr lang="en-US" sz="3000" dirty="0"/>
          </a:p>
        </p:txBody>
      </p:sp>
      <p:sp>
        <p:nvSpPr>
          <p:cNvPr id="15" name="Text 12"/>
          <p:cNvSpPr txBox="1"/>
          <p:nvPr/>
        </p:nvSpPr>
        <p:spPr>
          <a:xfrm>
            <a:off x="1737360" y="4434840"/>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discipline</a:t>
            </a:r>
            <a:endParaRPr lang="en-US" sz="3600" dirty="0"/>
          </a:p>
        </p:txBody>
      </p:sp>
      <p:sp>
        <p:nvSpPr>
          <p:cNvPr id="16" name="Shape 13"/>
          <p:cNvSpPr/>
          <p:nvPr/>
        </p:nvSpPr>
        <p:spPr>
          <a:xfrm>
            <a:off x="731520" y="5349240"/>
            <a:ext cx="731520" cy="731520"/>
          </a:xfrm>
          <a:prstGeom prst="ellipse">
            <a:avLst/>
          </a:prstGeom>
          <a:solidFill>
            <a:schemeClr val="accent5"/>
          </a:solidFill>
          <a:ln/>
        </p:spPr>
      </p:sp>
      <p:sp>
        <p:nvSpPr>
          <p:cNvPr id="17" name="Text 14"/>
          <p:cNvSpPr txBox="1"/>
          <p:nvPr/>
        </p:nvSpPr>
        <p:spPr>
          <a:xfrm>
            <a:off x="731520" y="534924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5</a:t>
            </a:r>
            <a:endParaRPr lang="en-US" sz="3000" dirty="0"/>
          </a:p>
        </p:txBody>
      </p:sp>
      <p:sp>
        <p:nvSpPr>
          <p:cNvPr id="18" name="Text 15"/>
          <p:cNvSpPr txBox="1"/>
          <p:nvPr/>
        </p:nvSpPr>
        <p:spPr>
          <a:xfrm>
            <a:off x="1737360" y="5349240"/>
            <a:ext cx="5943600" cy="731520"/>
          </a:xfrm>
          <a:prstGeom prst="rect">
            <a:avLst/>
          </a:prstGeom>
          <a:noFill/>
          <a:ln/>
        </p:spPr>
        <p:txBody>
          <a:bodyPr wrap="square" lIns="0" tIns="0" rIns="0" bIns="0" rtlCol="0" anchor="ctr"/>
          <a:lstStyle/>
          <a:p>
            <a:pPr indent="0" marL="0">
              <a:buNone/>
            </a:pPr>
            <a:r>
              <a:rPr lang="en-US" sz="3600" dirty="0">
                <a:solidFill>
                  <a:schemeClr val="bg1"/>
                </a:solidFill>
              </a:rPr>
              <a:t>Sow a correct image</a:t>
            </a:r>
            <a:endParaRPr lang="en-US" sz="3600" dirty="0"/>
          </a:p>
        </p:txBody>
      </p:sp>
      <p:pic>
        <p:nvPicPr>
          <p:cNvPr id="19" name="Harvest illustration" descr="/tmp/claude-0/-home-user-demohub/4e189e5a-9413-5c63-8621-9705e4931a88/scratchpad/deck/img/wheat.png">    </p:cNvPr>
          <p:cNvPicPr>
            <a:picLocks noChangeAspect="1"/>
          </p:cNvPicPr>
          <p:nvPr/>
        </p:nvPicPr>
        <p:blipFill>
          <a:blip r:embed="rId1"/>
          <a:stretch>
            <a:fillRect/>
          </a:stretch>
        </p:blipFill>
        <p:spPr>
          <a:xfrm>
            <a:off x="8001000" y="1463040"/>
            <a:ext cx="3657600" cy="3657600"/>
          </a:xfrm>
          <a:prstGeom prst="rect">
            <a:avLst/>
          </a:prstGeom>
        </p:spPr>
      </p:pic>
    </p:spTree>
  </p:cSld>
  <p:clrMapOvr>
    <a:masterClrMapping/>
  </p:clrMapOvr>
  <p:transition spd="med">
    <p:fade/>
  </p:transition>
</p:sld>
</file>

<file path=ppt/theme/theme1.xml><?xml version="1.0" encoding="utf-8"?>
<a:theme xmlns:a="http://schemas.openxmlformats.org/drawingml/2006/main" name="Harvest">
  <a:themeElements>
    <a:clrScheme name="Harvest">
      <a:dk1>
        <a:srgbClr val="1A1A1A"/>
      </a:dk1>
      <a:lt1>
        <a:srgbClr val="FFFFFF"/>
      </a:lt1>
      <a:dk2>
        <a:srgbClr val="1E4D2B"/>
      </a:dk2>
      <a:lt2>
        <a:srgbClr val="EEF5EA"/>
      </a:lt2>
      <a:accent1>
        <a:srgbClr val="E0A93B"/>
      </a:accent1>
      <a:accent2>
        <a:srgbClr val="4E8B4A"/>
      </a:accent2>
      <a:accent3>
        <a:srgbClr val="2E86AB"/>
      </a:accent3>
      <a:accent4>
        <a:srgbClr val="C8553D"/>
      </a:accent4>
      <a:accent5>
        <a:srgbClr val="7B5EA7"/>
      </a:accent5>
      <a:accent6>
        <a:srgbClr val="8C6239"/>
      </a:accent6>
      <a:hlink>
        <a:srgbClr val="2E86AB"/>
      </a:hlink>
      <a:folHlink>
        <a:srgbClr val="7B5EA7"/>
      </a:folHlink>
    </a:clrScheme>
    <a:fontScheme name="Harv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Sowing the Best</dc:title>
  <dc:subject>Lesson 8: Sowing the Best</dc:subject>
  <dc:creator>PptxGenJS</dc:creator>
  <cp:lastModifiedBy>PptxGenJS</cp:lastModifiedBy>
  <cp:revision>1</cp:revision>
  <dcterms:created xsi:type="dcterms:W3CDTF">2026-10-10T17:52:21Z</dcterms:created>
  <dcterms:modified xsi:type="dcterms:W3CDTF">2026-10-10T17:52:21Z</dcterms:modified>
</cp:coreProperties>
</file>